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66" r:id="rId4"/>
    <p:sldId id="267" r:id="rId5"/>
    <p:sldId id="258" r:id="rId6"/>
    <p:sldId id="268" r:id="rId7"/>
    <p:sldId id="269" r:id="rId8"/>
    <p:sldId id="270" r:id="rId9"/>
    <p:sldId id="271" r:id="rId10"/>
    <p:sldId id="272" r:id="rId11"/>
    <p:sldId id="273" r:id="rId12"/>
    <p:sldId id="259" r:id="rId13"/>
    <p:sldId id="260" r:id="rId14"/>
    <p:sldId id="274" r:id="rId15"/>
    <p:sldId id="275" r:id="rId16"/>
    <p:sldId id="276" r:id="rId17"/>
    <p:sldId id="261" r:id="rId18"/>
    <p:sldId id="295" r:id="rId19"/>
    <p:sldId id="277" r:id="rId20"/>
    <p:sldId id="278" r:id="rId21"/>
    <p:sldId id="262" r:id="rId22"/>
    <p:sldId id="279" r:id="rId23"/>
    <p:sldId id="280" r:id="rId24"/>
    <p:sldId id="281" r:id="rId25"/>
    <p:sldId id="282" r:id="rId26"/>
    <p:sldId id="284" r:id="rId27"/>
    <p:sldId id="283" r:id="rId28"/>
    <p:sldId id="263" r:id="rId29"/>
    <p:sldId id="286" r:id="rId30"/>
    <p:sldId id="287" r:id="rId31"/>
    <p:sldId id="288" r:id="rId32"/>
    <p:sldId id="289" r:id="rId33"/>
    <p:sldId id="285" r:id="rId34"/>
    <p:sldId id="290" r:id="rId35"/>
    <p:sldId id="264" r:id="rId36"/>
    <p:sldId id="291" r:id="rId37"/>
    <p:sldId id="292" r:id="rId38"/>
    <p:sldId id="265" r:id="rId39"/>
    <p:sldId id="293" r:id="rId40"/>
    <p:sldId id="294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84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788" autoAdjust="0"/>
  </p:normalViewPr>
  <p:slideViewPr>
    <p:cSldViewPr snapToGrid="0" snapToObjects="1">
      <p:cViewPr varScale="1">
        <p:scale>
          <a:sx n="106" d="100"/>
          <a:sy n="106" d="100"/>
        </p:scale>
        <p:origin x="75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46300F-925C-48BB-86B6-57264291ECD7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F1154F-86D4-429D-94CC-556E589965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5963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7AD36-7146-9EF4-0ED7-549D359D4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CCB3E1-9477-941C-8378-56DAC5446E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9FF047-699A-BA7E-AD41-C6CDEE1267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C95CA4-B5A0-9FBF-9BC1-A33D3F0A25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1154F-86D4-429D-94CC-556E5899656A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83744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EDF7B-6CB5-A2B3-579F-6E01C1BBE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BEFBE-B140-B62A-708B-7A4FA5D18C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E6F28A-58C8-48D6-5AF3-73FC0673B9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CD856C-EE3C-9E4E-2D07-7754A00F33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1154F-86D4-429D-94CC-556E5899656A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318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1154F-86D4-429D-94CC-556E5899656A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21875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362325" y="731520"/>
            <a:ext cx="5467350" cy="384048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54864" rtlCol="0" anchor="ctr"/>
          <a:lstStyle/>
          <a:p>
            <a:pPr algn="ctr">
              <a:defRPr sz="1000" b="1">
                <a:solidFill>
                  <a:srgbClr val="1E3A8A"/>
                </a:solidFill>
                <a:latin typeface="Segoe UI"/>
              </a:defRPr>
            </a:pPr>
            <a:r>
              <a:rPr sz="1400" dirty="0"/>
              <a:t>NATIONAL INSTITUTE OF TECHNOLOGY, TRICHY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28900" y="1371600"/>
            <a:ext cx="8801100" cy="1682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40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National Cyber Incident</a:t>
            </a:r>
            <a:br>
              <a:rPr dirty="0"/>
            </a:br>
            <a:r>
              <a:rPr dirty="0"/>
              <a:t>Analytics Platform (NCRI)</a:t>
            </a:r>
          </a:p>
          <a:p>
            <a:pPr>
              <a:defRPr sz="2100" b="1">
                <a:solidFill>
                  <a:srgbClr val="2563EB"/>
                </a:solidFill>
                <a:latin typeface="Segoe UI"/>
              </a:defRPr>
            </a:pPr>
            <a:r>
              <a:rPr dirty="0"/>
              <a:t>for Trend Analysis and Risk Assessment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5184843"/>
            <a:ext cx="5212080" cy="1078796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5365168"/>
            <a:ext cx="4572000" cy="7181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rPr dirty="0"/>
              <a:t>PRESENTED BY</a:t>
            </a:r>
          </a:p>
          <a:p>
            <a:pPr>
              <a:spcBef>
                <a:spcPts val="400"/>
              </a:spcBef>
              <a:defRPr sz="18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Tej Prakash Carpenter</a:t>
            </a:r>
          </a:p>
          <a:p>
            <a:pPr>
              <a:spcBef>
                <a:spcPts val="400"/>
              </a:spcBef>
              <a:defRPr sz="1200">
                <a:solidFill>
                  <a:srgbClr val="475569"/>
                </a:solidFill>
                <a:latin typeface="Segoe UI"/>
              </a:defRPr>
            </a:pPr>
            <a:r>
              <a:rPr dirty="0"/>
              <a:t>Roll Number: 205124</a:t>
            </a:r>
            <a:r>
              <a:rPr b="1" dirty="0"/>
              <a:t>101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095" y="5184843"/>
            <a:ext cx="5212080" cy="1078796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68440" y="5360038"/>
            <a:ext cx="4572000" cy="4821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rPr dirty="0"/>
              <a:t>GUIDED BY</a:t>
            </a:r>
          </a:p>
          <a:p>
            <a:pPr>
              <a:spcBef>
                <a:spcPts val="400"/>
              </a:spcBef>
              <a:defRPr sz="18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Dr. Sindhia Lingaswamy</a:t>
            </a:r>
          </a:p>
        </p:txBody>
      </p:sp>
      <p:sp>
        <p:nvSpPr>
          <p:cNvPr id="9" name="Rounded Rectangle 1">
            <a:extLst>
              <a:ext uri="{FF2B5EF4-FFF2-40B4-BE49-F238E27FC236}">
                <a16:creationId xmlns:a16="http://schemas.microsoft.com/office/drawing/2014/main" id="{F3F9B2D4-3CB9-EB82-58D1-EA640087297A}"/>
              </a:ext>
            </a:extLst>
          </p:cNvPr>
          <p:cNvSpPr/>
          <p:nvPr/>
        </p:nvSpPr>
        <p:spPr>
          <a:xfrm>
            <a:off x="4476750" y="4105275"/>
            <a:ext cx="3238500" cy="498608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54864" rtlCol="0" anchor="ctr"/>
          <a:lstStyle/>
          <a:p>
            <a:pPr algn="ctr">
              <a:defRPr sz="1000" b="1">
                <a:solidFill>
                  <a:srgbClr val="1E3A8A"/>
                </a:solidFill>
                <a:latin typeface="Segoe UI"/>
              </a:defRPr>
            </a:pPr>
            <a:r>
              <a:rPr lang="en-IN" sz="1600" b="1" dirty="0">
                <a:solidFill>
                  <a:srgbClr val="1E3A8A"/>
                </a:solidFill>
                <a:latin typeface="Segoe UI"/>
              </a:rPr>
              <a:t>MCA PROJECT REVIEW II</a:t>
            </a:r>
            <a:endParaRPr sz="1600" dirty="0"/>
          </a:p>
        </p:txBody>
      </p:sp>
      <p:pic>
        <p:nvPicPr>
          <p:cNvPr id="10" name="Picture 9" descr="NIT-Tiruchirappalli Emblem">
            <a:extLst>
              <a:ext uri="{FF2B5EF4-FFF2-40B4-BE49-F238E27FC236}">
                <a16:creationId xmlns:a16="http://schemas.microsoft.com/office/drawing/2014/main" id="{ED887CC6-0056-8FFB-D3AE-FDC44CEAC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687160" cy="16825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758952"/>
            <a:ext cx="10728655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The Problem and the Platform's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Unifying fragmented cyber incident data for consistent, actionable insight.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337560" cy="438912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0887" y="2059394"/>
            <a:ext cx="2788920" cy="29392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0F172A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Cross-Dimensional Comparison</a:t>
            </a:r>
          </a:p>
          <a:p>
            <a:pPr>
              <a:spcAft>
                <a:spcPts val="1200"/>
              </a:spcAft>
              <a:defRPr sz="1300" b="1">
                <a:solidFill>
                  <a:srgbClr val="1E3A8A"/>
                </a:solidFill>
                <a:latin typeface="Segoe UI"/>
              </a:defRPr>
            </a:pPr>
            <a:r>
              <a:rPr dirty="0"/>
              <a:t>Compare incidents across time, geography, sectors, and attack types.</a:t>
            </a:r>
          </a:p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rPr sz="1400" dirty="0"/>
              <a:t>Traditional cyber reporting is isolated within siloed formats. The platform enables multi-dimensional indexing to discover macroscopic attack trends and recurring threat patterns across disparate environments.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9CD75-6403-0B68-6CF8-9ED63CC8C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43E566-FF96-B55D-D99F-500A8FF62560}"/>
              </a:ext>
            </a:extLst>
          </p:cNvPr>
          <p:cNvSpPr txBox="1"/>
          <p:nvPr/>
        </p:nvSpPr>
        <p:spPr>
          <a:xfrm>
            <a:off x="731520" y="758952"/>
            <a:ext cx="10728655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The Problem and the Platform's Purpose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FD0F4D-41CF-2E8C-E67A-5D9E7656EDFF}"/>
              </a:ext>
            </a:extLst>
          </p:cNvPr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Unifying fragmented cyber incident data for consistent, actionable insight.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D6A6BBA-16D2-87A2-5FE1-B9F48D7C74FF}"/>
              </a:ext>
            </a:extLst>
          </p:cNvPr>
          <p:cNvSpPr/>
          <p:nvPr/>
        </p:nvSpPr>
        <p:spPr>
          <a:xfrm>
            <a:off x="731520" y="1691640"/>
            <a:ext cx="3337560" cy="438912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5F3687-421D-06E5-0BEA-4272E2A9FF5F}"/>
              </a:ext>
            </a:extLst>
          </p:cNvPr>
          <p:cNvSpPr txBox="1"/>
          <p:nvPr/>
        </p:nvSpPr>
        <p:spPr>
          <a:xfrm>
            <a:off x="1000887" y="2059394"/>
            <a:ext cx="2788920" cy="29392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0F172A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Cross-Dimensional Comparison</a:t>
            </a:r>
          </a:p>
          <a:p>
            <a:pPr>
              <a:spcAft>
                <a:spcPts val="1200"/>
              </a:spcAft>
              <a:defRPr sz="1300" b="1">
                <a:solidFill>
                  <a:srgbClr val="1E3A8A"/>
                </a:solidFill>
                <a:latin typeface="Segoe UI"/>
              </a:defRPr>
            </a:pPr>
            <a:r>
              <a:rPr dirty="0"/>
              <a:t>Compare incidents across time, geography, sectors, and attack types.</a:t>
            </a:r>
          </a:p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rPr sz="1400" dirty="0"/>
              <a:t>Traditional cyber reporting is isolated within siloed formats. The platform enables multidimensional indexing to discover macroscopic attack trends and recurring threat patterns across disparate environments.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68BF9C4-A35C-2EE5-C14B-4D0FD127AA3B}"/>
              </a:ext>
            </a:extLst>
          </p:cNvPr>
          <p:cNvSpPr/>
          <p:nvPr/>
        </p:nvSpPr>
        <p:spPr>
          <a:xfrm>
            <a:off x="4416552" y="1691640"/>
            <a:ext cx="3337560" cy="438912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DCFFC5-2186-C432-041F-AF3857F7CF75}"/>
              </a:ext>
            </a:extLst>
          </p:cNvPr>
          <p:cNvSpPr txBox="1"/>
          <p:nvPr/>
        </p:nvSpPr>
        <p:spPr>
          <a:xfrm>
            <a:off x="4685919" y="2059394"/>
            <a:ext cx="2788920" cy="27392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0F172A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Actionable Situational Awareness</a:t>
            </a:r>
          </a:p>
          <a:p>
            <a:pPr>
              <a:spcAft>
                <a:spcPts val="1200"/>
              </a:spcAft>
              <a:defRPr sz="1300" b="1">
                <a:solidFill>
                  <a:srgbClr val="1E3A8A"/>
                </a:solidFill>
                <a:latin typeface="Segoe UI"/>
              </a:defRPr>
            </a:pPr>
            <a:r>
              <a:rPr dirty="0"/>
              <a:t>Support analysts, researchers, and policy-oriented decision makers.</a:t>
            </a:r>
          </a:p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rPr sz="1400" dirty="0"/>
              <a:t>Delivers context-rich situational intelligence tailored for diverse audiences</a:t>
            </a:r>
            <a:r>
              <a:rPr lang="en-US" sz="1400" dirty="0"/>
              <a:t> </a:t>
            </a:r>
            <a:r>
              <a:rPr lang="en-IN" sz="1400" dirty="0"/>
              <a:t>- </a:t>
            </a:r>
            <a:r>
              <a:rPr sz="1400" dirty="0"/>
              <a:t>from tactical security analysts investigating active breaches to institutional leaders setting national cyber defense priorities.</a:t>
            </a:r>
          </a:p>
        </p:txBody>
      </p:sp>
    </p:spTree>
    <p:extLst>
      <p:ext uri="{BB962C8B-B14F-4D97-AF65-F5344CB8AC3E}">
        <p14:creationId xmlns:p14="http://schemas.microsoft.com/office/powerpoint/2010/main" val="25287623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137B8-019C-063D-7D2A-3D983C23E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5FCF54-4CBB-80C7-9DAF-BD3B95C2E7F1}"/>
              </a:ext>
            </a:extLst>
          </p:cNvPr>
          <p:cNvSpPr txBox="1"/>
          <p:nvPr/>
        </p:nvSpPr>
        <p:spPr>
          <a:xfrm>
            <a:off x="731520" y="758952"/>
            <a:ext cx="10728655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The Problem and the Platform's Purpose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B793A5-A7B0-B41B-41E2-554D2CD13C4D}"/>
              </a:ext>
            </a:extLst>
          </p:cNvPr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Unifying fragmented cyber incident data for consistent, actionable insight.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084450B-F81D-DE42-FF64-A10C130D345D}"/>
              </a:ext>
            </a:extLst>
          </p:cNvPr>
          <p:cNvSpPr/>
          <p:nvPr/>
        </p:nvSpPr>
        <p:spPr>
          <a:xfrm>
            <a:off x="731520" y="1691640"/>
            <a:ext cx="3337560" cy="438912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DA7F8F-DBEB-1FA4-2EAB-03B296CA5D0F}"/>
              </a:ext>
            </a:extLst>
          </p:cNvPr>
          <p:cNvSpPr txBox="1"/>
          <p:nvPr/>
        </p:nvSpPr>
        <p:spPr>
          <a:xfrm>
            <a:off x="1000887" y="2059394"/>
            <a:ext cx="2788920" cy="29392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0F172A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Cross-Dimensional Comparison</a:t>
            </a:r>
          </a:p>
          <a:p>
            <a:pPr>
              <a:spcAft>
                <a:spcPts val="1200"/>
              </a:spcAft>
              <a:defRPr sz="1300" b="1">
                <a:solidFill>
                  <a:srgbClr val="1E3A8A"/>
                </a:solidFill>
                <a:latin typeface="Segoe UI"/>
              </a:defRPr>
            </a:pPr>
            <a:r>
              <a:rPr dirty="0"/>
              <a:t>Compare incidents across time, geography, sectors, and attack types.</a:t>
            </a:r>
          </a:p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rPr sz="1400" dirty="0"/>
              <a:t>Traditional cyber reporting is isolated within siloed formats. The platform enables multi-dimensional indexing to discover macroscopic attack trends and recurring threat patterns across disparate environments.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318AE49-82A4-6A36-089A-FC07BEF80EFF}"/>
              </a:ext>
            </a:extLst>
          </p:cNvPr>
          <p:cNvSpPr/>
          <p:nvPr/>
        </p:nvSpPr>
        <p:spPr>
          <a:xfrm>
            <a:off x="4416552" y="1691640"/>
            <a:ext cx="3337560" cy="438912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83603F-1D23-1088-4448-90AEA342F277}"/>
              </a:ext>
            </a:extLst>
          </p:cNvPr>
          <p:cNvSpPr txBox="1"/>
          <p:nvPr/>
        </p:nvSpPr>
        <p:spPr>
          <a:xfrm>
            <a:off x="4685919" y="2059394"/>
            <a:ext cx="2788920" cy="27392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0F172A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Actionable Situational Awareness</a:t>
            </a:r>
          </a:p>
          <a:p>
            <a:pPr>
              <a:spcAft>
                <a:spcPts val="1200"/>
              </a:spcAft>
              <a:defRPr sz="1300" b="1">
                <a:solidFill>
                  <a:srgbClr val="1E3A8A"/>
                </a:solidFill>
                <a:latin typeface="Segoe UI"/>
              </a:defRPr>
            </a:pPr>
            <a:r>
              <a:rPr dirty="0"/>
              <a:t>Support analysts, researchers, and policy-oriented decision makers.</a:t>
            </a:r>
          </a:p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rPr sz="1400" dirty="0"/>
              <a:t>Delivers context-rich situational intelligence tailored for diverse audiences</a:t>
            </a:r>
            <a:r>
              <a:rPr lang="en-IN" sz="1400" dirty="0"/>
              <a:t>-</a:t>
            </a:r>
            <a:r>
              <a:rPr sz="1400" dirty="0"/>
              <a:t>from tactical security analysts investigating active breaches to institutional leaders setting national cyber defense priorities.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E3F1811-265D-6EF8-2BAF-AAFE1A4131A3}"/>
              </a:ext>
            </a:extLst>
          </p:cNvPr>
          <p:cNvSpPr/>
          <p:nvPr/>
        </p:nvSpPr>
        <p:spPr>
          <a:xfrm>
            <a:off x="8101584" y="1691640"/>
            <a:ext cx="3337560" cy="438912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C4ED6A-3565-9E71-DD4D-A33109E278D6}"/>
              </a:ext>
            </a:extLst>
          </p:cNvPr>
          <p:cNvSpPr txBox="1"/>
          <p:nvPr/>
        </p:nvSpPr>
        <p:spPr>
          <a:xfrm>
            <a:off x="8370951" y="2059394"/>
            <a:ext cx="2788920" cy="29392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0F172A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Provenanced &amp; Repeatable Scoring</a:t>
            </a:r>
          </a:p>
          <a:p>
            <a:pPr>
              <a:spcAft>
                <a:spcPts val="1200"/>
              </a:spcAft>
              <a:defRPr sz="1300" b="1">
                <a:solidFill>
                  <a:srgbClr val="1E3A8A"/>
                </a:solidFill>
                <a:latin typeface="Segoe UI"/>
              </a:defRPr>
            </a:pPr>
            <a:r>
              <a:rPr dirty="0"/>
              <a:t>Provide traceable source provenance and repeatable risk scoring</a:t>
            </a:r>
            <a:r>
              <a:rPr lang="en-IN" dirty="0"/>
              <a:t>.</a:t>
            </a:r>
            <a:endParaRPr dirty="0"/>
          </a:p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rPr sz="1400" dirty="0"/>
              <a:t>Ensures every recorded incident retains verifiable lineage back to authoritative reporting feeds. Calculates an explainable, deterministic National Cyber Risk Index (NCRI) rather than opaque estimations.</a:t>
            </a:r>
          </a:p>
        </p:txBody>
      </p:sp>
    </p:spTree>
    <p:extLst>
      <p:ext uri="{BB962C8B-B14F-4D97-AF65-F5344CB8AC3E}">
        <p14:creationId xmlns:p14="http://schemas.microsoft.com/office/powerpoint/2010/main" val="42385318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758952"/>
            <a:ext cx="10728655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Data Sources and Collection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Multiple trusted inputs. Unified intake. Consistent context.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337560" cy="2057400"/>
          </a:xfrm>
          <a:prstGeom prst="roundRect">
            <a:avLst>
              <a:gd name="adj" fmla="val 10803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74520"/>
            <a:ext cx="288036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284C7"/>
                </a:solidFill>
                <a:latin typeface="Segoe UI"/>
              </a:defRPr>
            </a:pPr>
            <a:r>
              <a:t>HISTORICAL GLOBAL INCIDENTS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UMD CISSM</a:t>
            </a:r>
          </a:p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  <a:latin typeface="Segoe UI"/>
              </a:defRPr>
            </a:pPr>
            <a:r>
              <a:t>• Feed: Historical global incident CSV export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Extensive academic repository tracking cyber events globally across public, defense, and enterprise sectors.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52CEF-C7ED-9816-FED1-0D5AC26CA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481D97-B9D3-8E17-1C4D-857A1AD2705E}"/>
              </a:ext>
            </a:extLst>
          </p:cNvPr>
          <p:cNvSpPr txBox="1"/>
          <p:nvPr/>
        </p:nvSpPr>
        <p:spPr>
          <a:xfrm>
            <a:off x="731520" y="758952"/>
            <a:ext cx="10728655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Data Sources and Collection Methods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B26C7E-2162-E135-9F6F-62BAF2427D9A}"/>
              </a:ext>
            </a:extLst>
          </p:cNvPr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Multiple trusted inputs. Unified intake. Consistent context.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50DB72E-153A-B50D-9DC1-CDC8AE243846}"/>
              </a:ext>
            </a:extLst>
          </p:cNvPr>
          <p:cNvSpPr/>
          <p:nvPr/>
        </p:nvSpPr>
        <p:spPr>
          <a:xfrm>
            <a:off x="731520" y="1691640"/>
            <a:ext cx="3337560" cy="2057400"/>
          </a:xfrm>
          <a:prstGeom prst="roundRect">
            <a:avLst>
              <a:gd name="adj" fmla="val 10803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7BDC8C-0117-E405-CF0B-BB3B5575A088}"/>
              </a:ext>
            </a:extLst>
          </p:cNvPr>
          <p:cNvSpPr txBox="1"/>
          <p:nvPr/>
        </p:nvSpPr>
        <p:spPr>
          <a:xfrm>
            <a:off x="960120" y="1874520"/>
            <a:ext cx="288036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284C7"/>
                </a:solidFill>
                <a:latin typeface="Segoe UI"/>
              </a:defRPr>
            </a:pPr>
            <a:r>
              <a:t>HISTORICAL GLOBAL INCIDENTS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UMD CISSM</a:t>
            </a:r>
          </a:p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  <a:latin typeface="Segoe UI"/>
              </a:defRPr>
            </a:pPr>
            <a:r>
              <a:t>• Feed: Historical global incident CSV export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Extensive academic repository tracking cyber events globally across public, defense, and enterprise sectors.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325C18F-C868-96DE-CD39-2A8E551AE5FA}"/>
              </a:ext>
            </a:extLst>
          </p:cNvPr>
          <p:cNvSpPr/>
          <p:nvPr/>
        </p:nvSpPr>
        <p:spPr>
          <a:xfrm>
            <a:off x="731520" y="4023360"/>
            <a:ext cx="3337560" cy="2057400"/>
          </a:xfrm>
          <a:prstGeom prst="roundRect">
            <a:avLst>
              <a:gd name="adj" fmla="val 11883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A3EE8E-A6BF-4E4A-4914-5EF9D884D7DD}"/>
              </a:ext>
            </a:extLst>
          </p:cNvPr>
          <p:cNvSpPr txBox="1"/>
          <p:nvPr/>
        </p:nvSpPr>
        <p:spPr>
          <a:xfrm>
            <a:off x="960120" y="4206240"/>
            <a:ext cx="288036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284C7"/>
                </a:solidFill>
                <a:latin typeface="Segoe UI"/>
              </a:defRPr>
            </a:pPr>
            <a:r>
              <a:t>NATIONAL INCIDENT REPOSITORY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CERT-In / MeitY</a:t>
            </a:r>
          </a:p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  <a:latin typeface="Segoe UI"/>
              </a:defRPr>
            </a:pPr>
            <a:r>
              <a:t>• Feed: Curated India incident CSV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Government and parliamentary disclosures capturing domestic cybersecurity incidents across key Indian critical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31677746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684EC-5E11-7C85-6195-8C9A9A5F2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7E4704-4774-6CC0-A210-155A80F89C30}"/>
              </a:ext>
            </a:extLst>
          </p:cNvPr>
          <p:cNvSpPr txBox="1"/>
          <p:nvPr/>
        </p:nvSpPr>
        <p:spPr>
          <a:xfrm>
            <a:off x="731520" y="758952"/>
            <a:ext cx="10728655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Data Sources and Collection Methods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EAF873-C6BA-E865-A096-8FF6CB63113E}"/>
              </a:ext>
            </a:extLst>
          </p:cNvPr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Multiple trusted inputs. Unified intake. Consistent context.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6551C4F-B744-6B4C-7F5D-B413671A0690}"/>
              </a:ext>
            </a:extLst>
          </p:cNvPr>
          <p:cNvSpPr/>
          <p:nvPr/>
        </p:nvSpPr>
        <p:spPr>
          <a:xfrm>
            <a:off x="731520" y="1691640"/>
            <a:ext cx="3337560" cy="2057400"/>
          </a:xfrm>
          <a:prstGeom prst="roundRect">
            <a:avLst>
              <a:gd name="adj" fmla="val 10803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3BDABB-C6E7-49BA-B529-C89F0358E0DE}"/>
              </a:ext>
            </a:extLst>
          </p:cNvPr>
          <p:cNvSpPr txBox="1"/>
          <p:nvPr/>
        </p:nvSpPr>
        <p:spPr>
          <a:xfrm>
            <a:off x="960120" y="1874520"/>
            <a:ext cx="288036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284C7"/>
                </a:solidFill>
                <a:latin typeface="Segoe UI"/>
              </a:defRPr>
            </a:pPr>
            <a:r>
              <a:t>HISTORICAL GLOBAL INCIDENTS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UMD CISSM</a:t>
            </a:r>
          </a:p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  <a:latin typeface="Segoe UI"/>
              </a:defRPr>
            </a:pPr>
            <a:r>
              <a:t>• Feed: Historical global incident CSV export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Extensive academic repository tracking cyber events globally across public, defense, and enterprise sectors.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E292E70-6954-68E8-0CEA-68C78D32E335}"/>
              </a:ext>
            </a:extLst>
          </p:cNvPr>
          <p:cNvSpPr/>
          <p:nvPr/>
        </p:nvSpPr>
        <p:spPr>
          <a:xfrm>
            <a:off x="4343400" y="1691640"/>
            <a:ext cx="3337560" cy="2057400"/>
          </a:xfrm>
          <a:prstGeom prst="roundRect">
            <a:avLst>
              <a:gd name="adj" fmla="val 1095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2C5274-C250-2276-87FC-7ED846311B76}"/>
              </a:ext>
            </a:extLst>
          </p:cNvPr>
          <p:cNvSpPr txBox="1"/>
          <p:nvPr/>
        </p:nvSpPr>
        <p:spPr>
          <a:xfrm>
            <a:off x="4572000" y="1874520"/>
            <a:ext cx="288036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284C7"/>
                </a:solidFill>
                <a:latin typeface="Segoe UI"/>
              </a:defRPr>
            </a:pPr>
            <a:r>
              <a:t>REAL-TIME EXTORTION FEEDS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Ransomware.live</a:t>
            </a:r>
          </a:p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  <a:latin typeface="Segoe UI"/>
              </a:defRPr>
            </a:pPr>
            <a:r>
              <a:t>• Feed: Public REST API, JSON victim records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Live victim disclosures from active threat-group darkweb leak sites, capturing extortion claims in near real-time.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024B7F6-F337-C586-838A-2711EA6C5CC0}"/>
              </a:ext>
            </a:extLst>
          </p:cNvPr>
          <p:cNvSpPr/>
          <p:nvPr/>
        </p:nvSpPr>
        <p:spPr>
          <a:xfrm>
            <a:off x="731520" y="4023360"/>
            <a:ext cx="3337560" cy="2057400"/>
          </a:xfrm>
          <a:prstGeom prst="roundRect">
            <a:avLst>
              <a:gd name="adj" fmla="val 11883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F3D1C2-9D5E-4223-B401-3FC904357992}"/>
              </a:ext>
            </a:extLst>
          </p:cNvPr>
          <p:cNvSpPr txBox="1"/>
          <p:nvPr/>
        </p:nvSpPr>
        <p:spPr>
          <a:xfrm>
            <a:off x="960120" y="4206240"/>
            <a:ext cx="288036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284C7"/>
                </a:solidFill>
                <a:latin typeface="Segoe UI"/>
              </a:defRPr>
            </a:pPr>
            <a:r>
              <a:t>NATIONAL INCIDENT REPOSITORY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CERT-In / MeitY</a:t>
            </a:r>
          </a:p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  <a:latin typeface="Segoe UI"/>
              </a:defRPr>
            </a:pPr>
            <a:r>
              <a:t>• Feed: Curated India incident CSV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Government and parliamentary disclosures capturing domestic cybersecurity incidents across key Indian critical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30598725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D536B-E558-1956-2E62-8CBC026E3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5162D3-EACA-489A-8F49-0C5605D1C502}"/>
              </a:ext>
            </a:extLst>
          </p:cNvPr>
          <p:cNvSpPr txBox="1"/>
          <p:nvPr/>
        </p:nvSpPr>
        <p:spPr>
          <a:xfrm>
            <a:off x="731520" y="758952"/>
            <a:ext cx="10728655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Data Sources and Collection Methods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A2C8F4-3ABA-0ADE-3BF5-47F5124B7F3C}"/>
              </a:ext>
            </a:extLst>
          </p:cNvPr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Multiple trusted inputs. Unified intake. Consistent context.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272F376-8C32-6491-A576-58C107EDF6C3}"/>
              </a:ext>
            </a:extLst>
          </p:cNvPr>
          <p:cNvSpPr/>
          <p:nvPr/>
        </p:nvSpPr>
        <p:spPr>
          <a:xfrm>
            <a:off x="731520" y="1691640"/>
            <a:ext cx="3337560" cy="2057400"/>
          </a:xfrm>
          <a:prstGeom prst="roundRect">
            <a:avLst>
              <a:gd name="adj" fmla="val 10803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1B90E6-918D-6C96-7D48-E4EFD3C61E34}"/>
              </a:ext>
            </a:extLst>
          </p:cNvPr>
          <p:cNvSpPr txBox="1"/>
          <p:nvPr/>
        </p:nvSpPr>
        <p:spPr>
          <a:xfrm>
            <a:off x="960120" y="1874520"/>
            <a:ext cx="288036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284C7"/>
                </a:solidFill>
                <a:latin typeface="Segoe UI"/>
              </a:defRPr>
            </a:pPr>
            <a:r>
              <a:t>HISTORICAL GLOBAL INCIDENTS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UMD CISSM</a:t>
            </a:r>
          </a:p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  <a:latin typeface="Segoe UI"/>
              </a:defRPr>
            </a:pPr>
            <a:r>
              <a:t>• Feed: Historical global incident CSV export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Extensive academic repository tracking cyber events globally across public, defense, and enterprise sectors.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EC45179-766A-B1E4-399A-603996F539C4}"/>
              </a:ext>
            </a:extLst>
          </p:cNvPr>
          <p:cNvSpPr/>
          <p:nvPr/>
        </p:nvSpPr>
        <p:spPr>
          <a:xfrm>
            <a:off x="4343400" y="1691640"/>
            <a:ext cx="3337560" cy="2057400"/>
          </a:xfrm>
          <a:prstGeom prst="roundRect">
            <a:avLst>
              <a:gd name="adj" fmla="val 1095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153DFB-77B7-94AB-A246-AEE5D8207A24}"/>
              </a:ext>
            </a:extLst>
          </p:cNvPr>
          <p:cNvSpPr txBox="1"/>
          <p:nvPr/>
        </p:nvSpPr>
        <p:spPr>
          <a:xfrm>
            <a:off x="4572000" y="1874520"/>
            <a:ext cx="288036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284C7"/>
                </a:solidFill>
                <a:latin typeface="Segoe UI"/>
              </a:defRPr>
            </a:pPr>
            <a:r>
              <a:t>REAL-TIME EXTORTION FEEDS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Ransomware.live</a:t>
            </a:r>
          </a:p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  <a:latin typeface="Segoe UI"/>
              </a:defRPr>
            </a:pPr>
            <a:r>
              <a:t>• Feed: Public REST API, JSON victim records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Live victim disclosures from active threat-group darkweb leak sites, capturing extortion claims in near real-time.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2122586-0572-84B7-2A3F-C1C46F6AC7E9}"/>
              </a:ext>
            </a:extLst>
          </p:cNvPr>
          <p:cNvSpPr/>
          <p:nvPr/>
        </p:nvSpPr>
        <p:spPr>
          <a:xfrm>
            <a:off x="731520" y="4023360"/>
            <a:ext cx="3337560" cy="2057400"/>
          </a:xfrm>
          <a:prstGeom prst="roundRect">
            <a:avLst>
              <a:gd name="adj" fmla="val 11883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3D2BB3-D623-6D88-F522-5B1904157E3B}"/>
              </a:ext>
            </a:extLst>
          </p:cNvPr>
          <p:cNvSpPr txBox="1"/>
          <p:nvPr/>
        </p:nvSpPr>
        <p:spPr>
          <a:xfrm>
            <a:off x="960120" y="4206240"/>
            <a:ext cx="288036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284C7"/>
                </a:solidFill>
                <a:latin typeface="Segoe UI"/>
              </a:defRPr>
            </a:pPr>
            <a:r>
              <a:t>NATIONAL INCIDENT REPOSITORY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CERT-In / MeitY</a:t>
            </a:r>
          </a:p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  <a:latin typeface="Segoe UI"/>
              </a:defRPr>
            </a:pPr>
            <a:r>
              <a:t>• Feed: Curated India incident CSV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Government and parliamentary disclosures capturing domestic cybersecurity incidents across key Indian critical infrastructure.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4F95CCE-7717-501A-8CF1-EFF8CF070ADD}"/>
              </a:ext>
            </a:extLst>
          </p:cNvPr>
          <p:cNvSpPr/>
          <p:nvPr/>
        </p:nvSpPr>
        <p:spPr>
          <a:xfrm>
            <a:off x="4343400" y="4023360"/>
            <a:ext cx="3337560" cy="2057400"/>
          </a:xfrm>
          <a:prstGeom prst="roundRect">
            <a:avLst>
              <a:gd name="adj" fmla="val 10803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35555F-7C90-5178-8030-29263BB464A5}"/>
              </a:ext>
            </a:extLst>
          </p:cNvPr>
          <p:cNvSpPr txBox="1"/>
          <p:nvPr/>
        </p:nvSpPr>
        <p:spPr>
          <a:xfrm>
            <a:off x="4572000" y="4206240"/>
            <a:ext cx="288036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284C7"/>
                </a:solidFill>
                <a:latin typeface="Segoe UI"/>
              </a:defRPr>
            </a:pPr>
            <a:r>
              <a:t>EXPLOITED VULNERABILITIES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CISA KEV</a:t>
            </a:r>
          </a:p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  <a:latin typeface="Segoe UI"/>
              </a:defRPr>
            </a:pPr>
            <a:r>
              <a:t>• Feed: Official JSON catalog; custom CSV/JSON imports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Authoritative catalog of known exploited vulnerabilities linked conditionally when evidence confirms active weaponization.</a:t>
            </a:r>
          </a:p>
        </p:txBody>
      </p:sp>
    </p:spTree>
    <p:extLst>
      <p:ext uri="{BB962C8B-B14F-4D97-AF65-F5344CB8AC3E}">
        <p14:creationId xmlns:p14="http://schemas.microsoft.com/office/powerpoint/2010/main" val="39400811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0144D-5F96-171C-FE03-7DA1AD31D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59800E-7021-3278-FA28-DD7C2F8B2435}"/>
              </a:ext>
            </a:extLst>
          </p:cNvPr>
          <p:cNvSpPr txBox="1"/>
          <p:nvPr/>
        </p:nvSpPr>
        <p:spPr>
          <a:xfrm>
            <a:off x="731520" y="758952"/>
            <a:ext cx="10728655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Data Sources and Collection Methods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EBCE8E-6AD2-7F35-B7A5-73B5BD48C3D2}"/>
              </a:ext>
            </a:extLst>
          </p:cNvPr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Multiple trusted inputs. Unified intake. Consistent context.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7003100-78D1-BC6A-F382-A8E38B482C31}"/>
              </a:ext>
            </a:extLst>
          </p:cNvPr>
          <p:cNvSpPr/>
          <p:nvPr/>
        </p:nvSpPr>
        <p:spPr>
          <a:xfrm>
            <a:off x="731520" y="1691640"/>
            <a:ext cx="3337560" cy="2057400"/>
          </a:xfrm>
          <a:prstGeom prst="roundRect">
            <a:avLst>
              <a:gd name="adj" fmla="val 10803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DC6294-F062-E5E6-30C9-AEB56DC9694A}"/>
              </a:ext>
            </a:extLst>
          </p:cNvPr>
          <p:cNvSpPr txBox="1"/>
          <p:nvPr/>
        </p:nvSpPr>
        <p:spPr>
          <a:xfrm>
            <a:off x="960120" y="1874520"/>
            <a:ext cx="288036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284C7"/>
                </a:solidFill>
                <a:latin typeface="Segoe UI"/>
              </a:defRPr>
            </a:pPr>
            <a:r>
              <a:t>HISTORICAL GLOBAL INCIDENTS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UMD CISSM</a:t>
            </a:r>
          </a:p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  <a:latin typeface="Segoe UI"/>
              </a:defRPr>
            </a:pPr>
            <a:r>
              <a:t>• Feed: Historical global incident CSV export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Extensive academic repository tracking cyber events globally across public, defense, and enterprise sectors.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4139074-9CB6-8442-17B2-A8AC6293B22A}"/>
              </a:ext>
            </a:extLst>
          </p:cNvPr>
          <p:cNvSpPr/>
          <p:nvPr/>
        </p:nvSpPr>
        <p:spPr>
          <a:xfrm>
            <a:off x="4343400" y="1691640"/>
            <a:ext cx="3337560" cy="2057400"/>
          </a:xfrm>
          <a:prstGeom prst="roundRect">
            <a:avLst>
              <a:gd name="adj" fmla="val 1095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5CE62B-4029-9D2D-C762-5F24DA08B3ED}"/>
              </a:ext>
            </a:extLst>
          </p:cNvPr>
          <p:cNvSpPr txBox="1"/>
          <p:nvPr/>
        </p:nvSpPr>
        <p:spPr>
          <a:xfrm>
            <a:off x="4572000" y="1874520"/>
            <a:ext cx="288036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284C7"/>
                </a:solidFill>
                <a:latin typeface="Segoe UI"/>
              </a:defRPr>
            </a:pPr>
            <a:r>
              <a:t>REAL-TIME EXTORTION FEEDS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Ransomware.live</a:t>
            </a:r>
          </a:p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  <a:latin typeface="Segoe UI"/>
              </a:defRPr>
            </a:pPr>
            <a:r>
              <a:t>• Feed: Public REST API, JSON victim records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Live victim disclosures from active threat-group darkweb leak sites, capturing extortion claims in near real-time.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80524BA-1215-A539-290B-CD050C651460}"/>
              </a:ext>
            </a:extLst>
          </p:cNvPr>
          <p:cNvSpPr/>
          <p:nvPr/>
        </p:nvSpPr>
        <p:spPr>
          <a:xfrm>
            <a:off x="731520" y="4023360"/>
            <a:ext cx="3337560" cy="2057400"/>
          </a:xfrm>
          <a:prstGeom prst="roundRect">
            <a:avLst>
              <a:gd name="adj" fmla="val 11883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E97F10-F847-33EE-3F31-69839BA11992}"/>
              </a:ext>
            </a:extLst>
          </p:cNvPr>
          <p:cNvSpPr txBox="1"/>
          <p:nvPr/>
        </p:nvSpPr>
        <p:spPr>
          <a:xfrm>
            <a:off x="960120" y="4206240"/>
            <a:ext cx="288036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284C7"/>
                </a:solidFill>
                <a:latin typeface="Segoe UI"/>
              </a:defRPr>
            </a:pPr>
            <a:r>
              <a:t>NATIONAL INCIDENT REPOSITORY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CERT-In / MeitY</a:t>
            </a:r>
          </a:p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  <a:latin typeface="Segoe UI"/>
              </a:defRPr>
            </a:pPr>
            <a:r>
              <a:t>• Feed: Curated India incident CSV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Government and parliamentary disclosures capturing domestic cybersecurity incidents across key Indian critical infrastructure.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5E85AD4-4881-5853-2966-CF6864F4980B}"/>
              </a:ext>
            </a:extLst>
          </p:cNvPr>
          <p:cNvSpPr/>
          <p:nvPr/>
        </p:nvSpPr>
        <p:spPr>
          <a:xfrm>
            <a:off x="4343400" y="4023360"/>
            <a:ext cx="3337560" cy="2057400"/>
          </a:xfrm>
          <a:prstGeom prst="roundRect">
            <a:avLst>
              <a:gd name="adj" fmla="val 10803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2326B0-41CC-D0F1-7016-C3A50A596C84}"/>
              </a:ext>
            </a:extLst>
          </p:cNvPr>
          <p:cNvSpPr txBox="1"/>
          <p:nvPr/>
        </p:nvSpPr>
        <p:spPr>
          <a:xfrm>
            <a:off x="4572000" y="4206240"/>
            <a:ext cx="288036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284C7"/>
                </a:solidFill>
                <a:latin typeface="Segoe UI"/>
              </a:defRPr>
            </a:pPr>
            <a:r>
              <a:t>EXPLOITED VULNERABILITIES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CISA KEV</a:t>
            </a:r>
          </a:p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  <a:latin typeface="Segoe UI"/>
              </a:defRPr>
            </a:pPr>
            <a:r>
              <a:t>• Feed: Official JSON catalog; custom CSV/JSON imports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Authoritative catalog of known exploited vulnerabilities linked conditionally when evidence confirms active weaponization.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D4CC9C4-A572-86CA-8002-323DB478F7A3}"/>
              </a:ext>
            </a:extLst>
          </p:cNvPr>
          <p:cNvSpPr/>
          <p:nvPr/>
        </p:nvSpPr>
        <p:spPr>
          <a:xfrm>
            <a:off x="8046720" y="1691640"/>
            <a:ext cx="3413455" cy="4389120"/>
          </a:xfrm>
          <a:prstGeom prst="roundRect">
            <a:avLst>
              <a:gd name="adj" fmla="val 8203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334C98-5610-286D-7F00-C24F6492BCB9}"/>
              </a:ext>
            </a:extLst>
          </p:cNvPr>
          <p:cNvSpPr txBox="1"/>
          <p:nvPr/>
        </p:nvSpPr>
        <p:spPr>
          <a:xfrm>
            <a:off x="8321040" y="2011680"/>
            <a:ext cx="2864815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CENTRAL INTAKE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2000" b="1">
                <a:solidFill>
                  <a:srgbClr val="0F172A"/>
                </a:solidFill>
                <a:latin typeface="Segoe UI"/>
              </a:defRPr>
            </a:pPr>
            <a:r>
              <a:t>Unified Data Intake</a:t>
            </a:r>
          </a:p>
          <a:p>
            <a:pPr>
              <a:spcAft>
                <a:spcPts val="1400"/>
              </a:spcAft>
              <a:defRPr sz="1300" b="1">
                <a:solidFill>
                  <a:srgbClr val="2563EB"/>
                </a:solidFill>
                <a:latin typeface="Segoe UI"/>
              </a:defRPr>
            </a:pPr>
            <a:r>
              <a:t>Structured, standardized, and ready for analysis.</a:t>
            </a:r>
          </a:p>
          <a:p>
            <a:pPr>
              <a:spcBef>
                <a:spcPts val="600"/>
              </a:spcBef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✔  Universal Adapters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     Custom connector interfaces normalize diverse formats (REST, CSV, JSON).</a:t>
            </a:r>
          </a:p>
          <a:p>
            <a:pPr>
              <a:spcBef>
                <a:spcPts val="600"/>
              </a:spcBef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✔  Taxonomy Mapping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     Translates non-uniform sector, attack, and geography labels to ISO standards.</a:t>
            </a:r>
          </a:p>
          <a:p>
            <a:pPr>
              <a:spcBef>
                <a:spcPts val="600"/>
              </a:spcBef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✔  Provenance Tracking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     Every record maintains source links, ingestion batch IDs, and audit flags.</a:t>
            </a:r>
          </a:p>
          <a:p>
            <a:pPr>
              <a:spcBef>
                <a:spcPts val="600"/>
              </a:spcBef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✔  Ready for Analytics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     Cleaned datasets flow directly to persistence and index calculation engines.</a:t>
            </a:r>
          </a:p>
        </p:txBody>
      </p:sp>
    </p:spTree>
    <p:extLst>
      <p:ext uri="{BB962C8B-B14F-4D97-AF65-F5344CB8AC3E}">
        <p14:creationId xmlns:p14="http://schemas.microsoft.com/office/powerpoint/2010/main" val="19063612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54B4E-4C17-4B0F-43A9-28F93A2FD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277217-51A2-4471-41BC-A602012EAE46}"/>
              </a:ext>
            </a:extLst>
          </p:cNvPr>
          <p:cNvSpPr txBox="1"/>
          <p:nvPr/>
        </p:nvSpPr>
        <p:spPr>
          <a:xfrm>
            <a:off x="731520" y="758952"/>
            <a:ext cx="10728655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What Data Is Captured?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CA4D6C-2837-7A1D-EA61-ACA7DB074612}"/>
              </a:ext>
            </a:extLst>
          </p:cNvPr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Standardized schema capturing incident context, operational attributes, and linked CVE telemetry.</a:t>
            </a:r>
          </a:p>
        </p:txBody>
      </p:sp>
    </p:spTree>
    <p:extLst>
      <p:ext uri="{BB962C8B-B14F-4D97-AF65-F5344CB8AC3E}">
        <p14:creationId xmlns:p14="http://schemas.microsoft.com/office/powerpoint/2010/main" val="38704925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7447A-398F-AE2D-D7EC-757BCFD62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0228DF-5151-7A82-6A46-819F2FE14236}"/>
              </a:ext>
            </a:extLst>
          </p:cNvPr>
          <p:cNvSpPr txBox="1"/>
          <p:nvPr/>
        </p:nvSpPr>
        <p:spPr>
          <a:xfrm>
            <a:off x="731520" y="758952"/>
            <a:ext cx="10728655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What Data Is Captured?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6BBBB8-56DF-5967-DD51-052665A2DA31}"/>
              </a:ext>
            </a:extLst>
          </p:cNvPr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Standardized schema capturing incident context, operational attributes, and linked CVE telemetry.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93209E6-E575-FD1F-8E57-E796B67CD39F}"/>
              </a:ext>
            </a:extLst>
          </p:cNvPr>
          <p:cNvSpPr/>
          <p:nvPr/>
        </p:nvSpPr>
        <p:spPr>
          <a:xfrm>
            <a:off x="731520" y="1691640"/>
            <a:ext cx="4389120" cy="4389120"/>
          </a:xfrm>
          <a:prstGeom prst="roundRect">
            <a:avLst>
              <a:gd name="adj" fmla="val 6739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5F8223-9B92-1B97-DEDB-3331C68BF93B}"/>
              </a:ext>
            </a:extLst>
          </p:cNvPr>
          <p:cNvSpPr txBox="1"/>
          <p:nvPr/>
        </p:nvSpPr>
        <p:spPr>
          <a:xfrm>
            <a:off x="1005840" y="2011680"/>
            <a:ext cx="384048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CAPTURE SCOPE &amp; PRINCIPLES</a:t>
            </a:r>
          </a:p>
          <a:p>
            <a:pPr>
              <a:spcBef>
                <a:spcPts val="1000"/>
              </a:spcBef>
              <a:defRPr sz="1400" b="1">
                <a:solidFill>
                  <a:srgbClr val="1E3A8A"/>
                </a:solidFill>
                <a:latin typeface="Segoe UI"/>
              </a:defRPr>
            </a:pPr>
            <a:r>
              <a:t>Incident Context</a:t>
            </a:r>
          </a:p>
          <a:p>
            <a:pPr>
              <a:spcBef>
                <a:spcPts val="200"/>
              </a:spcBef>
              <a:defRPr sz="1150">
                <a:solidFill>
                  <a:srgbClr val="475569"/>
                </a:solidFill>
                <a:latin typeface="Segoe UI"/>
              </a:defRPr>
            </a:pPr>
            <a:r>
              <a:t>Incident date, victim organization, source provenance, and public reference URLs.</a:t>
            </a:r>
          </a:p>
          <a:p>
            <a:pPr>
              <a:spcBef>
                <a:spcPts val="1000"/>
              </a:spcBef>
              <a:defRPr sz="1400" b="1">
                <a:solidFill>
                  <a:srgbClr val="1E3A8A"/>
                </a:solidFill>
                <a:latin typeface="Segoe UI"/>
              </a:defRPr>
            </a:pPr>
            <a:r>
              <a:t>Taxonomic Attribution</a:t>
            </a:r>
          </a:p>
          <a:p>
            <a:pPr>
              <a:spcBef>
                <a:spcPts val="200"/>
              </a:spcBef>
              <a:defRPr sz="1150">
                <a:solidFill>
                  <a:srgbClr val="475569"/>
                </a:solidFill>
                <a:latin typeface="Segoe UI"/>
              </a:defRPr>
            </a:pPr>
            <a:r>
              <a:t>Sector/subsector classifications, country/region ISO codes, attack type and subtype.</a:t>
            </a:r>
          </a:p>
          <a:p>
            <a:pPr>
              <a:spcBef>
                <a:spcPts val="1000"/>
              </a:spcBef>
              <a:defRPr sz="1400" b="1">
                <a:solidFill>
                  <a:srgbClr val="1E3A8A"/>
                </a:solidFill>
                <a:latin typeface="Segoe UI"/>
              </a:defRPr>
            </a:pPr>
            <a:r>
              <a:t>Impact &amp; Actor Profile</a:t>
            </a:r>
          </a:p>
          <a:p>
            <a:pPr>
              <a:spcBef>
                <a:spcPts val="200"/>
              </a:spcBef>
              <a:defRPr sz="1150">
                <a:solidFill>
                  <a:srgbClr val="475569"/>
                </a:solidFill>
                <a:latin typeface="Segoe UI"/>
              </a:defRPr>
            </a:pPr>
            <a:r>
              <a:t>Threat actor and motive when available; severity and operational impact where supported.</a:t>
            </a:r>
          </a:p>
          <a:p>
            <a:pPr>
              <a:spcBef>
                <a:spcPts val="1000"/>
              </a:spcBef>
              <a:defRPr sz="1400" b="1">
                <a:solidFill>
                  <a:srgbClr val="1E3A8A"/>
                </a:solidFill>
                <a:latin typeface="Segoe UI"/>
              </a:defRPr>
            </a:pPr>
            <a:r>
              <a:t>Strict Evidence-Based Linking</a:t>
            </a:r>
          </a:p>
          <a:p>
            <a:pPr>
              <a:spcBef>
                <a:spcPts val="200"/>
              </a:spcBef>
              <a:defRPr sz="1150">
                <a:solidFill>
                  <a:srgbClr val="475569"/>
                </a:solidFill>
                <a:latin typeface="Segoe UI"/>
              </a:defRPr>
            </a:pPr>
            <a:r>
              <a:t>CVE metadata is stored separately and linked only when empirical evidence supports a direct relationship.</a:t>
            </a:r>
          </a:p>
        </p:txBody>
      </p:sp>
    </p:spTree>
    <p:extLst>
      <p:ext uri="{BB962C8B-B14F-4D97-AF65-F5344CB8AC3E}">
        <p14:creationId xmlns:p14="http://schemas.microsoft.com/office/powerpoint/2010/main" val="893346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758952"/>
            <a:ext cx="10728655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What Data Is Captured?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Standardized schema capturing incident context, operational attributes, and linked CVE telemetry.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4389120" cy="4389120"/>
          </a:xfrm>
          <a:prstGeom prst="roundRect">
            <a:avLst>
              <a:gd name="adj" fmla="val 6739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384048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CAPTURE SCOPE &amp; PRINCIPLES</a:t>
            </a:r>
          </a:p>
          <a:p>
            <a:pPr>
              <a:spcBef>
                <a:spcPts val="1000"/>
              </a:spcBef>
              <a:defRPr sz="1400" b="1">
                <a:solidFill>
                  <a:srgbClr val="1E3A8A"/>
                </a:solidFill>
                <a:latin typeface="Segoe UI"/>
              </a:defRPr>
            </a:pPr>
            <a:r>
              <a:t>Incident Context</a:t>
            </a:r>
          </a:p>
          <a:p>
            <a:pPr>
              <a:spcBef>
                <a:spcPts val="200"/>
              </a:spcBef>
              <a:defRPr sz="1150">
                <a:solidFill>
                  <a:srgbClr val="475569"/>
                </a:solidFill>
                <a:latin typeface="Segoe UI"/>
              </a:defRPr>
            </a:pPr>
            <a:r>
              <a:t>Incident date, victim organization, source provenance, and public reference URLs.</a:t>
            </a:r>
          </a:p>
          <a:p>
            <a:pPr>
              <a:spcBef>
                <a:spcPts val="1000"/>
              </a:spcBef>
              <a:defRPr sz="1400" b="1">
                <a:solidFill>
                  <a:srgbClr val="1E3A8A"/>
                </a:solidFill>
                <a:latin typeface="Segoe UI"/>
              </a:defRPr>
            </a:pPr>
            <a:r>
              <a:t>Taxonomic Attribution</a:t>
            </a:r>
          </a:p>
          <a:p>
            <a:pPr>
              <a:spcBef>
                <a:spcPts val="200"/>
              </a:spcBef>
              <a:defRPr sz="1150">
                <a:solidFill>
                  <a:srgbClr val="475569"/>
                </a:solidFill>
                <a:latin typeface="Segoe UI"/>
              </a:defRPr>
            </a:pPr>
            <a:r>
              <a:t>Sector/subsector classifications, country/region ISO codes, attack type and subtype.</a:t>
            </a:r>
          </a:p>
          <a:p>
            <a:pPr>
              <a:spcBef>
                <a:spcPts val="1000"/>
              </a:spcBef>
              <a:defRPr sz="1400" b="1">
                <a:solidFill>
                  <a:srgbClr val="1E3A8A"/>
                </a:solidFill>
                <a:latin typeface="Segoe UI"/>
              </a:defRPr>
            </a:pPr>
            <a:r>
              <a:t>Impact &amp; Actor Profile</a:t>
            </a:r>
          </a:p>
          <a:p>
            <a:pPr>
              <a:spcBef>
                <a:spcPts val="200"/>
              </a:spcBef>
              <a:defRPr sz="1150">
                <a:solidFill>
                  <a:srgbClr val="475569"/>
                </a:solidFill>
                <a:latin typeface="Segoe UI"/>
              </a:defRPr>
            </a:pPr>
            <a:r>
              <a:t>Threat actor and motive when available; severity and operational impact where supported.</a:t>
            </a:r>
          </a:p>
          <a:p>
            <a:pPr>
              <a:spcBef>
                <a:spcPts val="1000"/>
              </a:spcBef>
              <a:defRPr sz="1400" b="1">
                <a:solidFill>
                  <a:srgbClr val="1E3A8A"/>
                </a:solidFill>
                <a:latin typeface="Segoe UI"/>
              </a:defRPr>
            </a:pPr>
            <a:r>
              <a:t>Strict Evidence-Based Linking</a:t>
            </a:r>
          </a:p>
          <a:p>
            <a:pPr>
              <a:spcBef>
                <a:spcPts val="200"/>
              </a:spcBef>
              <a:defRPr sz="1150">
                <a:solidFill>
                  <a:srgbClr val="475569"/>
                </a:solidFill>
                <a:latin typeface="Segoe UI"/>
              </a:defRPr>
            </a:pPr>
            <a:r>
              <a:t>CVE metadata is stored separately and linked only when empirical evidence supports a direct relationship.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1691640"/>
            <a:ext cx="5973775" cy="4389120"/>
          </a:xfrm>
          <a:prstGeom prst="roundRect">
            <a:avLst>
              <a:gd name="adj" fmla="val 6359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60720" y="2011680"/>
            <a:ext cx="542513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CANONICAL SCHEMA FIELDS (10 DIMENSIONS)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2377440"/>
            <a:ext cx="2621127" cy="621792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97880" y="2450592"/>
            <a:ext cx="2346807" cy="47548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Incident Date</a:t>
            </a:r>
          </a:p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ISO YYYY-MM-DD standardized date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2377440"/>
            <a:ext cx="2621127" cy="621792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01887" y="2450592"/>
            <a:ext cx="2346807" cy="47548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Victim Organization</a:t>
            </a:r>
          </a:p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rPr dirty="0"/>
              <a:t>Cleaned entity / enterprise identifier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3108960"/>
            <a:ext cx="2621127" cy="621792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97880" y="3182112"/>
            <a:ext cx="2346807" cy="47548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Source</a:t>
            </a:r>
          </a:p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Originating feed (CISSM, Ransomware.live, CERT-In)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64727" y="3108960"/>
            <a:ext cx="2621127" cy="621792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01887" y="3182112"/>
            <a:ext cx="2346807" cy="47548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Public Reference</a:t>
            </a:r>
          </a:p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Verifiable external citation URL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720" y="3840480"/>
            <a:ext cx="2621127" cy="621792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97880" y="3913632"/>
            <a:ext cx="2346807" cy="47548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Sector / Subsector</a:t>
            </a:r>
          </a:p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Harmonized critical infrastructure taxonomy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64727" y="3840480"/>
            <a:ext cx="2621127" cy="621792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701887" y="3913632"/>
            <a:ext cx="2346807" cy="47548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Country / Region</a:t>
            </a:r>
          </a:p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ISO 3166-1 alpha-2 / alpha-3 standards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4572000"/>
            <a:ext cx="2621127" cy="621792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897880" y="4645152"/>
            <a:ext cx="2346807" cy="47548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Attack Type / Subtype</a:t>
            </a:r>
          </a:p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Normalized attack classification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64727" y="4572000"/>
            <a:ext cx="2621127" cy="621792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701887" y="4645152"/>
            <a:ext cx="2346807" cy="47548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Threat Actor / Motive</a:t>
            </a:r>
          </a:p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Attribution &amp; intent indicators (if available)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60720" y="5303520"/>
            <a:ext cx="2621127" cy="621792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897880" y="5376672"/>
            <a:ext cx="2346807" cy="47548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Severity / Impact</a:t>
            </a:r>
          </a:p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Normalized comparative impact metric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64727" y="5303520"/>
            <a:ext cx="2621127" cy="621792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701887" y="5376672"/>
            <a:ext cx="2346807" cy="47548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CVE Metadata</a:t>
            </a:r>
          </a:p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Linked known exploited vulnerability IDs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758952"/>
            <a:ext cx="10728655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The Data Engineering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Automated multi-stage pipeline ensuring schema harmonization, record uniqueness, and auditability.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2514600" cy="1874519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2148840" cy="1554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284C7"/>
                </a:solidFill>
                <a:latin typeface="Segoe UI"/>
              </a:defRPr>
            </a:pPr>
            <a:r>
              <a:t>STAGE 01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SOURCE ADAPTERS</a:t>
            </a:r>
          </a:p>
          <a:p>
            <a:pPr>
              <a:spcAft>
                <a:spcPts val="400"/>
              </a:spcAft>
              <a:defRPr sz="1050" b="1">
                <a:solidFill>
                  <a:srgbClr val="1E3A8A"/>
                </a:solidFill>
                <a:latin typeface="Segoe UI"/>
              </a:defRPr>
            </a:pPr>
            <a:r>
              <a:t>Extract incident data from diverse sources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2514600" cy="224028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977640"/>
            <a:ext cx="2148840" cy="1874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284C7"/>
                </a:solidFill>
                <a:latin typeface="Segoe UI"/>
              </a:defRPr>
            </a:pPr>
            <a:r>
              <a:t>TEMPORAL NORMALIZATION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Date Standardization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Dates standardized to ISO YYYY-MM-DD across all incoming records. Resolves varied epoch formats, month-name text, and missing granular timestamps to ensure clean chronological aggregation.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B0B90-330D-37D2-3532-9D3FC10E5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F2F872-62C3-1AAD-A537-FC9CD15572C4}"/>
              </a:ext>
            </a:extLst>
          </p:cNvPr>
          <p:cNvSpPr txBox="1"/>
          <p:nvPr/>
        </p:nvSpPr>
        <p:spPr>
          <a:xfrm>
            <a:off x="731520" y="758952"/>
            <a:ext cx="10728655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The Data Engineering Pipeline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6F8F25-C076-9EAC-201B-7D2AB687CB23}"/>
              </a:ext>
            </a:extLst>
          </p:cNvPr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Automated multi-stage pipeline ensuring schema harmonization, record uniqueness, and auditability.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A4E78F2-97D0-9311-E876-5895D25603AE}"/>
              </a:ext>
            </a:extLst>
          </p:cNvPr>
          <p:cNvSpPr/>
          <p:nvPr/>
        </p:nvSpPr>
        <p:spPr>
          <a:xfrm>
            <a:off x="731520" y="1691640"/>
            <a:ext cx="2514600" cy="1874519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61AB0A-3EA4-6648-0FD6-5A22E6004839}"/>
              </a:ext>
            </a:extLst>
          </p:cNvPr>
          <p:cNvSpPr txBox="1"/>
          <p:nvPr/>
        </p:nvSpPr>
        <p:spPr>
          <a:xfrm>
            <a:off x="914400" y="1874520"/>
            <a:ext cx="2148840" cy="1554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284C7"/>
                </a:solidFill>
                <a:latin typeface="Segoe UI"/>
              </a:defRPr>
            </a:pPr>
            <a:r>
              <a:t>STAGE 01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SOURCE ADAPTERS</a:t>
            </a:r>
          </a:p>
          <a:p>
            <a:pPr>
              <a:spcAft>
                <a:spcPts val="400"/>
              </a:spcAft>
              <a:defRPr sz="1050" b="1">
                <a:solidFill>
                  <a:srgbClr val="1E3A8A"/>
                </a:solidFill>
                <a:latin typeface="Segoe UI"/>
              </a:defRPr>
            </a:pPr>
            <a:r>
              <a:t>Extract incident data from diverse sources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4CD264C-9503-0376-53CB-1E0AD16E1593}"/>
              </a:ext>
            </a:extLst>
          </p:cNvPr>
          <p:cNvSpPr/>
          <p:nvPr/>
        </p:nvSpPr>
        <p:spPr>
          <a:xfrm>
            <a:off x="3469233" y="1691640"/>
            <a:ext cx="2514600" cy="1874519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E459A4-AA46-0AB5-5F7B-934693553D65}"/>
              </a:ext>
            </a:extLst>
          </p:cNvPr>
          <p:cNvSpPr txBox="1"/>
          <p:nvPr/>
        </p:nvSpPr>
        <p:spPr>
          <a:xfrm>
            <a:off x="3652113" y="1874520"/>
            <a:ext cx="2148840" cy="1554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284C7"/>
                </a:solidFill>
                <a:latin typeface="Segoe UI"/>
              </a:defRPr>
            </a:pPr>
            <a:r>
              <a:t>STAGE 02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NORMALIZATION ENGINE</a:t>
            </a:r>
          </a:p>
          <a:p>
            <a:pPr>
              <a:spcAft>
                <a:spcPts val="400"/>
              </a:spcAft>
              <a:defRPr sz="1050" b="1">
                <a:solidFill>
                  <a:srgbClr val="1E3A8A"/>
                </a:solidFill>
                <a:latin typeface="Segoe UI"/>
              </a:defRPr>
            </a:pPr>
            <a:r>
              <a:t>Map and standardize to common taxonomies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EACDF96-FCA6-272A-7472-D8C2DB471121}"/>
              </a:ext>
            </a:extLst>
          </p:cNvPr>
          <p:cNvSpPr/>
          <p:nvPr/>
        </p:nvSpPr>
        <p:spPr>
          <a:xfrm>
            <a:off x="731520" y="3794760"/>
            <a:ext cx="2514600" cy="224028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C1BCEA-777E-51F4-B104-048E61EB4447}"/>
              </a:ext>
            </a:extLst>
          </p:cNvPr>
          <p:cNvSpPr txBox="1"/>
          <p:nvPr/>
        </p:nvSpPr>
        <p:spPr>
          <a:xfrm>
            <a:off x="914400" y="3977640"/>
            <a:ext cx="2148840" cy="1874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284C7"/>
                </a:solidFill>
                <a:latin typeface="Segoe UI"/>
              </a:defRPr>
            </a:pPr>
            <a:r>
              <a:t>TEMPORAL NORMALIZATION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Date Standardization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Dates standardized to ISO YYYY-MM-DD across all incoming records. Resolves varied epoch formats, month-name text, and missing granular timestamps to ensure clean chronological aggregation.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72AE4D5-368D-2B04-D988-7DBC749C4A22}"/>
              </a:ext>
            </a:extLst>
          </p:cNvPr>
          <p:cNvSpPr/>
          <p:nvPr/>
        </p:nvSpPr>
        <p:spPr>
          <a:xfrm>
            <a:off x="3469233" y="3794760"/>
            <a:ext cx="2514600" cy="224028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198450-A727-3D2C-5FB9-BF1F41286BDE}"/>
              </a:ext>
            </a:extLst>
          </p:cNvPr>
          <p:cNvSpPr txBox="1"/>
          <p:nvPr/>
        </p:nvSpPr>
        <p:spPr>
          <a:xfrm>
            <a:off x="3652113" y="3977640"/>
            <a:ext cx="2148840" cy="1874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284C7"/>
                </a:solidFill>
                <a:latin typeface="Segoe UI"/>
              </a:defRPr>
            </a:pPr>
            <a:r>
              <a:t>SCHEMA HARMONIZATION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Taxonomy Alignment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Sectors, attack types, country names/codes, and severity fields normalized. Resolves alias mappings (e.g., 'Finance' vs. 'Banking') to a single unified reference model.</a:t>
            </a:r>
          </a:p>
        </p:txBody>
      </p:sp>
    </p:spTree>
    <p:extLst>
      <p:ext uri="{BB962C8B-B14F-4D97-AF65-F5344CB8AC3E}">
        <p14:creationId xmlns:p14="http://schemas.microsoft.com/office/powerpoint/2010/main" val="31781460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991DA-6375-F929-F8CC-ADAF332F4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0E03C9-829F-DE1A-D58C-A20BD1C017AC}"/>
              </a:ext>
            </a:extLst>
          </p:cNvPr>
          <p:cNvSpPr txBox="1"/>
          <p:nvPr/>
        </p:nvSpPr>
        <p:spPr>
          <a:xfrm>
            <a:off x="731520" y="758952"/>
            <a:ext cx="10728655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The Data Engineering Pipeline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A2277E-D7EC-10DF-0487-CCE2B7381C33}"/>
              </a:ext>
            </a:extLst>
          </p:cNvPr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Automated multi-stage pipeline ensuring schema harmonization, record uniqueness, and auditability.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0563753-8EF6-FCCA-7F93-85F700E2122C}"/>
              </a:ext>
            </a:extLst>
          </p:cNvPr>
          <p:cNvSpPr/>
          <p:nvPr/>
        </p:nvSpPr>
        <p:spPr>
          <a:xfrm>
            <a:off x="731520" y="1691640"/>
            <a:ext cx="2514600" cy="1874519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7321D8-99ED-EC66-AD63-BF811F33C39B}"/>
              </a:ext>
            </a:extLst>
          </p:cNvPr>
          <p:cNvSpPr txBox="1"/>
          <p:nvPr/>
        </p:nvSpPr>
        <p:spPr>
          <a:xfrm>
            <a:off x="914400" y="1874520"/>
            <a:ext cx="2148840" cy="1554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284C7"/>
                </a:solidFill>
                <a:latin typeface="Segoe UI"/>
              </a:defRPr>
            </a:pPr>
            <a:r>
              <a:t>STAGE 01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SOURCE ADAPTERS</a:t>
            </a:r>
          </a:p>
          <a:p>
            <a:pPr>
              <a:spcAft>
                <a:spcPts val="400"/>
              </a:spcAft>
              <a:defRPr sz="1050" b="1">
                <a:solidFill>
                  <a:srgbClr val="1E3A8A"/>
                </a:solidFill>
                <a:latin typeface="Segoe UI"/>
              </a:defRPr>
            </a:pPr>
            <a:r>
              <a:t>Extract incident data from diverse sources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32D7DB7-120C-161F-4C70-9B405175BCB3}"/>
              </a:ext>
            </a:extLst>
          </p:cNvPr>
          <p:cNvSpPr/>
          <p:nvPr/>
        </p:nvSpPr>
        <p:spPr>
          <a:xfrm>
            <a:off x="3469233" y="1691640"/>
            <a:ext cx="2514600" cy="1874519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2F1AAD-1D02-5486-BA5F-E1533F3CCC91}"/>
              </a:ext>
            </a:extLst>
          </p:cNvPr>
          <p:cNvSpPr txBox="1"/>
          <p:nvPr/>
        </p:nvSpPr>
        <p:spPr>
          <a:xfrm>
            <a:off x="3652113" y="1874520"/>
            <a:ext cx="2148840" cy="1554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284C7"/>
                </a:solidFill>
                <a:latin typeface="Segoe UI"/>
              </a:defRPr>
            </a:pPr>
            <a:r>
              <a:t>STAGE 02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NORMALIZATION ENGINE</a:t>
            </a:r>
          </a:p>
          <a:p>
            <a:pPr>
              <a:spcAft>
                <a:spcPts val="400"/>
              </a:spcAft>
              <a:defRPr sz="1050" b="1">
                <a:solidFill>
                  <a:srgbClr val="1E3A8A"/>
                </a:solidFill>
                <a:latin typeface="Segoe UI"/>
              </a:defRPr>
            </a:pPr>
            <a:r>
              <a:t>Map and standardize to common taxonomies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4E2C983-103A-B84B-D0E9-A2241A0A4AEF}"/>
              </a:ext>
            </a:extLst>
          </p:cNvPr>
          <p:cNvSpPr/>
          <p:nvPr/>
        </p:nvSpPr>
        <p:spPr>
          <a:xfrm>
            <a:off x="6206947" y="1691640"/>
            <a:ext cx="2514600" cy="1874519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1C7501-23EE-F27E-F9EF-C3603EC8E4D0}"/>
              </a:ext>
            </a:extLst>
          </p:cNvPr>
          <p:cNvSpPr txBox="1"/>
          <p:nvPr/>
        </p:nvSpPr>
        <p:spPr>
          <a:xfrm>
            <a:off x="6389827" y="1874520"/>
            <a:ext cx="2148840" cy="1554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284C7"/>
                </a:solidFill>
                <a:latin typeface="Segoe UI"/>
              </a:defRPr>
            </a:pPr>
            <a:r>
              <a:t>STAGE 03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FINGERPRINT DE-DUPLICATION</a:t>
            </a:r>
          </a:p>
          <a:p>
            <a:pPr>
              <a:spcAft>
                <a:spcPts val="400"/>
              </a:spcAft>
              <a:defRPr sz="1050" b="1">
                <a:solidFill>
                  <a:srgbClr val="1E3A8A"/>
                </a:solidFill>
                <a:latin typeface="Segoe UI"/>
              </a:defRPr>
            </a:pPr>
            <a:r>
              <a:t>Generate SHA-256 fingerprints to reduce duplicates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3B3D922-80FE-97A9-4C3F-1C07B523B0AE}"/>
              </a:ext>
            </a:extLst>
          </p:cNvPr>
          <p:cNvSpPr/>
          <p:nvPr/>
        </p:nvSpPr>
        <p:spPr>
          <a:xfrm>
            <a:off x="731520" y="3794760"/>
            <a:ext cx="2514600" cy="224028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ED1EC1-7113-7056-FACA-88D804A5323B}"/>
              </a:ext>
            </a:extLst>
          </p:cNvPr>
          <p:cNvSpPr txBox="1"/>
          <p:nvPr/>
        </p:nvSpPr>
        <p:spPr>
          <a:xfrm>
            <a:off x="914400" y="3977640"/>
            <a:ext cx="2148840" cy="1874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284C7"/>
                </a:solidFill>
                <a:latin typeface="Segoe UI"/>
              </a:defRPr>
            </a:pPr>
            <a:r>
              <a:t>TEMPORAL NORMALIZATION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Date Standardization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Dates standardized to ISO YYYY-MM-DD across all incoming records. Resolves varied epoch formats, month-name text, and missing granular timestamps to ensure clean chronological aggregation.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0179B9A-2B26-E9EE-4521-A599C906D863}"/>
              </a:ext>
            </a:extLst>
          </p:cNvPr>
          <p:cNvSpPr/>
          <p:nvPr/>
        </p:nvSpPr>
        <p:spPr>
          <a:xfrm>
            <a:off x="3469233" y="3794760"/>
            <a:ext cx="2514600" cy="224028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314C6F-256A-11A3-FFAD-EDB2703488C5}"/>
              </a:ext>
            </a:extLst>
          </p:cNvPr>
          <p:cNvSpPr txBox="1"/>
          <p:nvPr/>
        </p:nvSpPr>
        <p:spPr>
          <a:xfrm>
            <a:off x="3652113" y="3977640"/>
            <a:ext cx="2148840" cy="1874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284C7"/>
                </a:solidFill>
                <a:latin typeface="Segoe UI"/>
              </a:defRPr>
            </a:pPr>
            <a:r>
              <a:t>SCHEMA HARMONIZATION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Taxonomy Alignment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Sectors, attack types, country names/codes, and severity fields normalized. Resolves alias mappings (e.g., 'Finance' vs. 'Banking') to a single unified reference model.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BBD58D8-66E6-A253-8161-17CCE5B06853}"/>
              </a:ext>
            </a:extLst>
          </p:cNvPr>
          <p:cNvSpPr/>
          <p:nvPr/>
        </p:nvSpPr>
        <p:spPr>
          <a:xfrm>
            <a:off x="6206947" y="3794760"/>
            <a:ext cx="2514600" cy="224028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FF9A37-FACF-57C1-EF6C-B67DED88E80A}"/>
              </a:ext>
            </a:extLst>
          </p:cNvPr>
          <p:cNvSpPr txBox="1"/>
          <p:nvPr/>
        </p:nvSpPr>
        <p:spPr>
          <a:xfrm>
            <a:off x="6389827" y="3977640"/>
            <a:ext cx="2148840" cy="1874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284C7"/>
                </a:solidFill>
                <a:latin typeface="Segoe UI"/>
              </a:defRPr>
            </a:pPr>
            <a:r>
              <a:t>SHA-256 RESOLUTION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Composite Fingerprint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SHA-256 composite fingerprint based on cleaned victim name, incident date, and attack type. Prevents identical breach events reported across multiple public feeds from inflating counts.</a:t>
            </a:r>
          </a:p>
        </p:txBody>
      </p:sp>
    </p:spTree>
    <p:extLst>
      <p:ext uri="{BB962C8B-B14F-4D97-AF65-F5344CB8AC3E}">
        <p14:creationId xmlns:p14="http://schemas.microsoft.com/office/powerpoint/2010/main" val="33173902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4CFEF-1CAF-0AFE-5685-7D95ECFAD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4536286-41E3-11D3-3DCB-52694D100CDB}"/>
              </a:ext>
            </a:extLst>
          </p:cNvPr>
          <p:cNvSpPr txBox="1"/>
          <p:nvPr/>
        </p:nvSpPr>
        <p:spPr>
          <a:xfrm>
            <a:off x="731520" y="758952"/>
            <a:ext cx="10728655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The Data Engineering Pipeline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1C8687-EF8F-83EF-34EC-2E807716D43F}"/>
              </a:ext>
            </a:extLst>
          </p:cNvPr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Automated multi-stage pipeline ensuring schema harmonization, record uniqueness, and auditability.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948A18C-E1C1-7FFF-0FD3-AC38B970DA08}"/>
              </a:ext>
            </a:extLst>
          </p:cNvPr>
          <p:cNvSpPr/>
          <p:nvPr/>
        </p:nvSpPr>
        <p:spPr>
          <a:xfrm>
            <a:off x="731520" y="1691640"/>
            <a:ext cx="2514600" cy="1874519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2A4137-9886-2132-A01F-77368149ABB3}"/>
              </a:ext>
            </a:extLst>
          </p:cNvPr>
          <p:cNvSpPr txBox="1"/>
          <p:nvPr/>
        </p:nvSpPr>
        <p:spPr>
          <a:xfrm>
            <a:off x="914400" y="1874520"/>
            <a:ext cx="2148840" cy="1554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284C7"/>
                </a:solidFill>
                <a:latin typeface="Segoe UI"/>
              </a:defRPr>
            </a:pPr>
            <a:r>
              <a:t>STAGE 01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SOURCE ADAPTERS</a:t>
            </a:r>
          </a:p>
          <a:p>
            <a:pPr>
              <a:spcAft>
                <a:spcPts val="400"/>
              </a:spcAft>
              <a:defRPr sz="1050" b="1">
                <a:solidFill>
                  <a:srgbClr val="1E3A8A"/>
                </a:solidFill>
                <a:latin typeface="Segoe UI"/>
              </a:defRPr>
            </a:pPr>
            <a:r>
              <a:t>Extract incident data from diverse sources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3E7782B-7A3A-86B2-7FD4-067C87B04D1B}"/>
              </a:ext>
            </a:extLst>
          </p:cNvPr>
          <p:cNvSpPr/>
          <p:nvPr/>
        </p:nvSpPr>
        <p:spPr>
          <a:xfrm>
            <a:off x="3469233" y="1691640"/>
            <a:ext cx="2514600" cy="1874519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A7A3A9-00B4-4BCE-F934-DC549A878FDB}"/>
              </a:ext>
            </a:extLst>
          </p:cNvPr>
          <p:cNvSpPr txBox="1"/>
          <p:nvPr/>
        </p:nvSpPr>
        <p:spPr>
          <a:xfrm>
            <a:off x="3652113" y="1874520"/>
            <a:ext cx="2148840" cy="1554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284C7"/>
                </a:solidFill>
                <a:latin typeface="Segoe UI"/>
              </a:defRPr>
            </a:pPr>
            <a:r>
              <a:t>STAGE 02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NORMALIZATION ENGINE</a:t>
            </a:r>
          </a:p>
          <a:p>
            <a:pPr>
              <a:spcAft>
                <a:spcPts val="400"/>
              </a:spcAft>
              <a:defRPr sz="1050" b="1">
                <a:solidFill>
                  <a:srgbClr val="1E3A8A"/>
                </a:solidFill>
                <a:latin typeface="Segoe UI"/>
              </a:defRPr>
            </a:pPr>
            <a:r>
              <a:t>Map and standardize to common taxonomies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E787655-5547-386A-DF8B-F268991460B8}"/>
              </a:ext>
            </a:extLst>
          </p:cNvPr>
          <p:cNvSpPr/>
          <p:nvPr/>
        </p:nvSpPr>
        <p:spPr>
          <a:xfrm>
            <a:off x="6206947" y="1691640"/>
            <a:ext cx="2514600" cy="1874519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1BA384-E42B-1602-6209-C4CC5E6B9A9B}"/>
              </a:ext>
            </a:extLst>
          </p:cNvPr>
          <p:cNvSpPr txBox="1"/>
          <p:nvPr/>
        </p:nvSpPr>
        <p:spPr>
          <a:xfrm>
            <a:off x="6389827" y="1874520"/>
            <a:ext cx="2148840" cy="1554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284C7"/>
                </a:solidFill>
                <a:latin typeface="Segoe UI"/>
              </a:defRPr>
            </a:pPr>
            <a:r>
              <a:t>STAGE 03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FINGERPRINT DE-DUPLICATION</a:t>
            </a:r>
          </a:p>
          <a:p>
            <a:pPr>
              <a:spcAft>
                <a:spcPts val="400"/>
              </a:spcAft>
              <a:defRPr sz="1050" b="1">
                <a:solidFill>
                  <a:srgbClr val="1E3A8A"/>
                </a:solidFill>
                <a:latin typeface="Segoe UI"/>
              </a:defRPr>
            </a:pPr>
            <a:r>
              <a:t>Generate SHA-256 fingerprints to reduce duplicates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9394249-5C1D-E78B-ED66-65FCF5E238F9}"/>
              </a:ext>
            </a:extLst>
          </p:cNvPr>
          <p:cNvSpPr/>
          <p:nvPr/>
        </p:nvSpPr>
        <p:spPr>
          <a:xfrm>
            <a:off x="8944660" y="1691640"/>
            <a:ext cx="2514600" cy="1874519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3AC775-9CC0-792E-54E4-E3B89D86419F}"/>
              </a:ext>
            </a:extLst>
          </p:cNvPr>
          <p:cNvSpPr txBox="1"/>
          <p:nvPr/>
        </p:nvSpPr>
        <p:spPr>
          <a:xfrm>
            <a:off x="9127540" y="1874520"/>
            <a:ext cx="2148840" cy="1554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284C7"/>
                </a:solidFill>
                <a:latin typeface="Segoe UI"/>
              </a:defRPr>
            </a:pPr>
            <a:r>
              <a:t>STAGE 04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INGESTION AUDIT</a:t>
            </a:r>
          </a:p>
          <a:p>
            <a:pPr>
              <a:spcAft>
                <a:spcPts val="400"/>
              </a:spcAft>
              <a:defRPr sz="1050" b="1">
                <a:solidFill>
                  <a:srgbClr val="1E3A8A"/>
                </a:solidFill>
                <a:latin typeface="Segoe UI"/>
              </a:defRPr>
            </a:pPr>
            <a:r>
              <a:t>Process outcomes tracked for quality and transparency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7E30B7E-1EC0-5AC4-2A87-0AB66A222517}"/>
              </a:ext>
            </a:extLst>
          </p:cNvPr>
          <p:cNvSpPr/>
          <p:nvPr/>
        </p:nvSpPr>
        <p:spPr>
          <a:xfrm>
            <a:off x="731520" y="3794760"/>
            <a:ext cx="2514600" cy="224028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39F462-7B3F-C44A-43A3-0E2510949DA0}"/>
              </a:ext>
            </a:extLst>
          </p:cNvPr>
          <p:cNvSpPr txBox="1"/>
          <p:nvPr/>
        </p:nvSpPr>
        <p:spPr>
          <a:xfrm>
            <a:off x="914400" y="3977640"/>
            <a:ext cx="2148840" cy="1874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284C7"/>
                </a:solidFill>
                <a:latin typeface="Segoe UI"/>
              </a:defRPr>
            </a:pPr>
            <a:r>
              <a:t>TEMPORAL NORMALIZATION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Date Standardization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Dates standardized to ISO YYYY-MM-DD across all incoming records. Resolves varied epoch formats, month-name text, and missing granular timestamps to ensure clean chronological aggregation.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1910217-3C33-DC84-C45A-C902BAA1F519}"/>
              </a:ext>
            </a:extLst>
          </p:cNvPr>
          <p:cNvSpPr/>
          <p:nvPr/>
        </p:nvSpPr>
        <p:spPr>
          <a:xfrm>
            <a:off x="3469233" y="3794760"/>
            <a:ext cx="2514600" cy="224028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413F13-D549-9A91-71A0-D337F45498F6}"/>
              </a:ext>
            </a:extLst>
          </p:cNvPr>
          <p:cNvSpPr txBox="1"/>
          <p:nvPr/>
        </p:nvSpPr>
        <p:spPr>
          <a:xfrm>
            <a:off x="3652113" y="3977640"/>
            <a:ext cx="2148840" cy="1874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284C7"/>
                </a:solidFill>
                <a:latin typeface="Segoe UI"/>
              </a:defRPr>
            </a:pPr>
            <a:r>
              <a:t>SCHEMA HARMONIZATION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Taxonomy Alignment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Sectors, attack types, country names/codes, and severity fields normalized. Resolves alias mappings (e.g., 'Finance' vs. 'Banking') to a single unified reference model.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09334E31-5C7F-C683-8C3D-6DC4EA2C6358}"/>
              </a:ext>
            </a:extLst>
          </p:cNvPr>
          <p:cNvSpPr/>
          <p:nvPr/>
        </p:nvSpPr>
        <p:spPr>
          <a:xfrm>
            <a:off x="6206947" y="3794760"/>
            <a:ext cx="2514600" cy="224028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196A947-E39E-BACF-1ADF-81AFDA231128}"/>
              </a:ext>
            </a:extLst>
          </p:cNvPr>
          <p:cNvSpPr txBox="1"/>
          <p:nvPr/>
        </p:nvSpPr>
        <p:spPr>
          <a:xfrm>
            <a:off x="6389827" y="3977640"/>
            <a:ext cx="2148840" cy="1874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284C7"/>
                </a:solidFill>
                <a:latin typeface="Segoe UI"/>
              </a:defRPr>
            </a:pPr>
            <a:r>
              <a:t>SHA-256 RESOLUTION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Composite Fingerprint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SHA-256 composite fingerprint based on cleaned victim name, incident date, and attack type. Prevents identical breach events reported across multiple public feeds from inflating counts.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32E89FB8-F1C2-A1C3-55F4-1A73283CED21}"/>
              </a:ext>
            </a:extLst>
          </p:cNvPr>
          <p:cNvSpPr/>
          <p:nvPr/>
        </p:nvSpPr>
        <p:spPr>
          <a:xfrm>
            <a:off x="8944660" y="3794760"/>
            <a:ext cx="2514600" cy="224028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17254D-8F63-B702-1AF3-5D5BA45EA905}"/>
              </a:ext>
            </a:extLst>
          </p:cNvPr>
          <p:cNvSpPr txBox="1"/>
          <p:nvPr/>
        </p:nvSpPr>
        <p:spPr>
          <a:xfrm>
            <a:off x="9127540" y="3977640"/>
            <a:ext cx="2148840" cy="1874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284C7"/>
                </a:solidFill>
                <a:latin typeface="Segoe UI"/>
              </a:defRPr>
            </a:pPr>
            <a:r>
              <a:t>TRACEABLE PROVENANCE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Ingestion Audit Logging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Ingestion audit captures processed, added, skipped, updated, and failed records. Maintains an immutable log of pipeline execution runs for complete transparency and debugging.</a:t>
            </a:r>
          </a:p>
        </p:txBody>
      </p:sp>
    </p:spTree>
    <p:extLst>
      <p:ext uri="{BB962C8B-B14F-4D97-AF65-F5344CB8AC3E}">
        <p14:creationId xmlns:p14="http://schemas.microsoft.com/office/powerpoint/2010/main" val="32561484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758952"/>
            <a:ext cx="10728655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Modular layered architecture connecting data ingestion, persistent storage, analytics modeling, and client presentation.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BC115-A9D7-A224-34D8-440819584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109CFD-1115-AF5A-86E9-E74678947B31}"/>
              </a:ext>
            </a:extLst>
          </p:cNvPr>
          <p:cNvSpPr txBox="1"/>
          <p:nvPr/>
        </p:nvSpPr>
        <p:spPr>
          <a:xfrm>
            <a:off x="731520" y="758952"/>
            <a:ext cx="10728655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System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63FF26-6BDB-EA15-65F1-A008DC2C82A1}"/>
              </a:ext>
            </a:extLst>
          </p:cNvPr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Modular layered architecture connecting data ingestion, persistent storage, analytics modeling, and client presentation.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236A241-223F-AC15-6294-A943364E729F}"/>
              </a:ext>
            </a:extLst>
          </p:cNvPr>
          <p:cNvSpPr/>
          <p:nvPr/>
        </p:nvSpPr>
        <p:spPr>
          <a:xfrm>
            <a:off x="731520" y="1691640"/>
            <a:ext cx="3337560" cy="4389120"/>
          </a:xfrm>
          <a:prstGeom prst="roundRect">
            <a:avLst>
              <a:gd name="adj" fmla="val 6849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1D3D9D-53BF-06D0-9C7B-E3FE5991362C}"/>
              </a:ext>
            </a:extLst>
          </p:cNvPr>
          <p:cNvSpPr txBox="1"/>
          <p:nvPr/>
        </p:nvSpPr>
        <p:spPr>
          <a:xfrm>
            <a:off x="960120" y="1837944"/>
            <a:ext cx="28803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284C7"/>
                </a:solidFill>
                <a:latin typeface="Segoe UI"/>
              </a:defRPr>
            </a:pPr>
            <a:r>
              <a:t>STAGE 01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DATA INGESTION &amp; PIPELINE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A4149D4-1C2D-1C9E-BE5B-5C7917515B8B}"/>
              </a:ext>
            </a:extLst>
          </p:cNvPr>
          <p:cNvSpPr/>
          <p:nvPr/>
        </p:nvSpPr>
        <p:spPr>
          <a:xfrm>
            <a:off x="914400" y="2286000"/>
            <a:ext cx="2971800" cy="1691640"/>
          </a:xfrm>
          <a:prstGeom prst="roundRect">
            <a:avLst>
              <a:gd name="adj" fmla="val 8596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B97C94-C7F8-16CA-2E27-188E82229B8E}"/>
              </a:ext>
            </a:extLst>
          </p:cNvPr>
          <p:cNvSpPr txBox="1"/>
          <p:nvPr/>
        </p:nvSpPr>
        <p:spPr>
          <a:xfrm>
            <a:off x="1051560" y="2414016"/>
            <a:ext cx="2697480" cy="1435608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7E22CE"/>
                </a:solidFill>
                <a:latin typeface="Segoe UI"/>
              </a:defRPr>
            </a:pPr>
            <a:r>
              <a:rPr dirty="0"/>
              <a:t>Data Acquisition Layer</a:t>
            </a:r>
          </a:p>
          <a:p>
            <a:pPr>
              <a:spcBef>
                <a:spcPts val="15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rPr dirty="0"/>
              <a:t>• </a:t>
            </a:r>
            <a:r>
              <a:rPr dirty="0" err="1"/>
              <a:t>Ransomware.live</a:t>
            </a:r>
            <a:r>
              <a:rPr dirty="0"/>
              <a:t> (REST API Feed)</a:t>
            </a:r>
          </a:p>
          <a:p>
            <a:pPr>
              <a:spcBef>
                <a:spcPts val="15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rPr dirty="0"/>
              <a:t>• UMD CISSM Database (Global CSV Export)</a:t>
            </a:r>
          </a:p>
          <a:p>
            <a:pPr>
              <a:spcBef>
                <a:spcPts val="15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rPr dirty="0"/>
              <a:t>• CISA KEV (Known Exploited JSON Catalog)</a:t>
            </a:r>
          </a:p>
          <a:p>
            <a:pPr>
              <a:spcBef>
                <a:spcPts val="15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rPr dirty="0"/>
              <a:t>• CERT-In Disclosures (National Curated CSV)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75C5DB-EA6D-FDA5-EBD9-EB722E956E26}"/>
              </a:ext>
            </a:extLst>
          </p:cNvPr>
          <p:cNvSpPr txBox="1"/>
          <p:nvPr/>
        </p:nvSpPr>
        <p:spPr>
          <a:xfrm>
            <a:off x="1762305" y="4058540"/>
            <a:ext cx="1275990" cy="13080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anchor="ctr">
            <a:spAutoFit/>
          </a:bodyPr>
          <a:lstStyle/>
          <a:p>
            <a:pPr algn="ctr">
              <a:defRPr sz="850" b="1">
                <a:solidFill>
                  <a:srgbClr val="0284C7"/>
                </a:solidFill>
                <a:latin typeface="Segoe UI"/>
              </a:defRPr>
            </a:pPr>
            <a:r>
              <a:rPr dirty="0"/>
              <a:t>▼  Automated Data Flow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76F831D-E42A-32B5-E7DF-F8A722A303C2}"/>
              </a:ext>
            </a:extLst>
          </p:cNvPr>
          <p:cNvSpPr/>
          <p:nvPr/>
        </p:nvSpPr>
        <p:spPr>
          <a:xfrm>
            <a:off x="914400" y="4297680"/>
            <a:ext cx="2971800" cy="1691640"/>
          </a:xfrm>
          <a:prstGeom prst="roundRect">
            <a:avLst>
              <a:gd name="adj" fmla="val 8221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2E2329-7026-F961-48F1-7ABD00429728}"/>
              </a:ext>
            </a:extLst>
          </p:cNvPr>
          <p:cNvSpPr txBox="1"/>
          <p:nvPr/>
        </p:nvSpPr>
        <p:spPr>
          <a:xfrm>
            <a:off x="1051560" y="4425696"/>
            <a:ext cx="2697480" cy="1435608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B45309"/>
                </a:solidFill>
                <a:latin typeface="Segoe UI"/>
              </a:defRPr>
            </a:pPr>
            <a:r>
              <a:t>Ingestion &amp; Pipeline Layer</a:t>
            </a:r>
          </a:p>
          <a:p>
            <a:pPr>
              <a:spcBef>
                <a:spcPts val="15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BaseAdapter Interface (Universal Extractor)</a:t>
            </a:r>
          </a:p>
          <a:p>
            <a:pPr>
              <a:spcBef>
                <a:spcPts val="15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Normalization Engine (Taxonomy Harmonizer)</a:t>
            </a:r>
          </a:p>
          <a:p>
            <a:pPr>
              <a:spcBef>
                <a:spcPts val="15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Deduplication &amp; SHA-256 Fingerprinting</a:t>
            </a:r>
          </a:p>
          <a:p>
            <a:pPr>
              <a:spcBef>
                <a:spcPts val="15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Ingestion Run Auditor (Batch Run Tracking)</a:t>
            </a:r>
          </a:p>
        </p:txBody>
      </p:sp>
    </p:spTree>
    <p:extLst>
      <p:ext uri="{BB962C8B-B14F-4D97-AF65-F5344CB8AC3E}">
        <p14:creationId xmlns:p14="http://schemas.microsoft.com/office/powerpoint/2010/main" val="21211412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A4274-E8DD-AA9C-9E66-BB4E6DF2D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EE929A-BB7B-226A-5A20-F185A5E5B3C1}"/>
              </a:ext>
            </a:extLst>
          </p:cNvPr>
          <p:cNvSpPr txBox="1"/>
          <p:nvPr/>
        </p:nvSpPr>
        <p:spPr>
          <a:xfrm>
            <a:off x="731520" y="758952"/>
            <a:ext cx="10728655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System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CFD831-9966-C3C4-C959-9D30B6768E43}"/>
              </a:ext>
            </a:extLst>
          </p:cNvPr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Modular layered architecture connecting data ingestion, persistent storage, analytics modeling, and client presentation.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3C07653-2431-19E1-4075-6C8A0CDEB0F1}"/>
              </a:ext>
            </a:extLst>
          </p:cNvPr>
          <p:cNvSpPr/>
          <p:nvPr/>
        </p:nvSpPr>
        <p:spPr>
          <a:xfrm>
            <a:off x="731520" y="1691640"/>
            <a:ext cx="3337560" cy="4389120"/>
          </a:xfrm>
          <a:prstGeom prst="roundRect">
            <a:avLst>
              <a:gd name="adj" fmla="val 6849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2094F6-1973-E05A-F596-EED6D52C9670}"/>
              </a:ext>
            </a:extLst>
          </p:cNvPr>
          <p:cNvSpPr txBox="1"/>
          <p:nvPr/>
        </p:nvSpPr>
        <p:spPr>
          <a:xfrm>
            <a:off x="960120" y="1837944"/>
            <a:ext cx="28803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284C7"/>
                </a:solidFill>
                <a:latin typeface="Segoe UI"/>
              </a:defRPr>
            </a:pPr>
            <a:r>
              <a:t>STAGE 01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DATA INGESTION &amp; PIPELINE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98F7AE1-7AE6-D97A-4F50-E2989FAEE1C7}"/>
              </a:ext>
            </a:extLst>
          </p:cNvPr>
          <p:cNvSpPr/>
          <p:nvPr/>
        </p:nvSpPr>
        <p:spPr>
          <a:xfrm>
            <a:off x="914400" y="2286000"/>
            <a:ext cx="2971800" cy="1691640"/>
          </a:xfrm>
          <a:prstGeom prst="roundRect">
            <a:avLst>
              <a:gd name="adj" fmla="val 8596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18808F-A99C-402B-0B5A-3204BB4E6BB0}"/>
              </a:ext>
            </a:extLst>
          </p:cNvPr>
          <p:cNvSpPr txBox="1"/>
          <p:nvPr/>
        </p:nvSpPr>
        <p:spPr>
          <a:xfrm>
            <a:off x="1051560" y="2414016"/>
            <a:ext cx="2697480" cy="1435608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7E22CE"/>
                </a:solidFill>
                <a:latin typeface="Segoe UI"/>
              </a:defRPr>
            </a:pPr>
            <a:r>
              <a:rPr dirty="0"/>
              <a:t>Data Acquisition Layer</a:t>
            </a:r>
          </a:p>
          <a:p>
            <a:pPr>
              <a:spcBef>
                <a:spcPts val="15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rPr dirty="0"/>
              <a:t>• </a:t>
            </a:r>
            <a:r>
              <a:rPr dirty="0" err="1"/>
              <a:t>Ransomware.live</a:t>
            </a:r>
            <a:r>
              <a:rPr dirty="0"/>
              <a:t> (REST API Feed)</a:t>
            </a:r>
          </a:p>
          <a:p>
            <a:pPr>
              <a:spcBef>
                <a:spcPts val="15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rPr dirty="0"/>
              <a:t>• UMD CISSM Database (Global CSV Export)</a:t>
            </a:r>
          </a:p>
          <a:p>
            <a:pPr>
              <a:spcBef>
                <a:spcPts val="15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rPr dirty="0"/>
              <a:t>• CISA KEV (Known Exploited JSON Catalog)</a:t>
            </a:r>
          </a:p>
          <a:p>
            <a:pPr>
              <a:spcBef>
                <a:spcPts val="15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rPr dirty="0"/>
              <a:t>• CERT-In Disclosures (National Curated CSV)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0ECE0A-FECF-4AEA-C600-EC2A306D1AE6}"/>
              </a:ext>
            </a:extLst>
          </p:cNvPr>
          <p:cNvSpPr txBox="1"/>
          <p:nvPr/>
        </p:nvSpPr>
        <p:spPr>
          <a:xfrm>
            <a:off x="1762305" y="4058540"/>
            <a:ext cx="1275990" cy="13080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anchor="ctr">
            <a:spAutoFit/>
          </a:bodyPr>
          <a:lstStyle/>
          <a:p>
            <a:pPr algn="ctr">
              <a:defRPr sz="850" b="1">
                <a:solidFill>
                  <a:srgbClr val="0284C7"/>
                </a:solidFill>
                <a:latin typeface="Segoe UI"/>
              </a:defRPr>
            </a:pPr>
            <a:r>
              <a:rPr dirty="0"/>
              <a:t>▼  Automated Data Flow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E601BCF-4616-FEE2-78F1-1A7B4AC864ED}"/>
              </a:ext>
            </a:extLst>
          </p:cNvPr>
          <p:cNvSpPr/>
          <p:nvPr/>
        </p:nvSpPr>
        <p:spPr>
          <a:xfrm>
            <a:off x="914400" y="4297680"/>
            <a:ext cx="2971800" cy="1691640"/>
          </a:xfrm>
          <a:prstGeom prst="roundRect">
            <a:avLst>
              <a:gd name="adj" fmla="val 8221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1879BD-545A-3B8B-0EC7-9B39826E381B}"/>
              </a:ext>
            </a:extLst>
          </p:cNvPr>
          <p:cNvSpPr txBox="1"/>
          <p:nvPr/>
        </p:nvSpPr>
        <p:spPr>
          <a:xfrm>
            <a:off x="1051560" y="4425696"/>
            <a:ext cx="2697480" cy="1435608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B45309"/>
                </a:solidFill>
                <a:latin typeface="Segoe UI"/>
              </a:defRPr>
            </a:pPr>
            <a:r>
              <a:t>Ingestion &amp; Pipeline Layer</a:t>
            </a:r>
          </a:p>
          <a:p>
            <a:pPr>
              <a:spcBef>
                <a:spcPts val="15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BaseAdapter Interface (Universal Extractor)</a:t>
            </a:r>
          </a:p>
          <a:p>
            <a:pPr>
              <a:spcBef>
                <a:spcPts val="15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Normalization Engine (Taxonomy Harmonizer)</a:t>
            </a:r>
          </a:p>
          <a:p>
            <a:pPr>
              <a:spcBef>
                <a:spcPts val="15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Deduplication &amp; SHA-256 Fingerprinting</a:t>
            </a:r>
          </a:p>
          <a:p>
            <a:pPr>
              <a:spcBef>
                <a:spcPts val="15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Ingestion Run Auditor (Batch Run Tracking)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008FC33-BA43-EB0E-570E-0618E718751E}"/>
              </a:ext>
            </a:extLst>
          </p:cNvPr>
          <p:cNvSpPr/>
          <p:nvPr/>
        </p:nvSpPr>
        <p:spPr>
          <a:xfrm>
            <a:off x="4416552" y="1691640"/>
            <a:ext cx="3337560" cy="4389120"/>
          </a:xfrm>
          <a:prstGeom prst="roundRect">
            <a:avLst>
              <a:gd name="adj" fmla="val 7725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8CCDDE-11FE-F826-997A-3C9C6F783AA3}"/>
              </a:ext>
            </a:extLst>
          </p:cNvPr>
          <p:cNvSpPr txBox="1"/>
          <p:nvPr/>
        </p:nvSpPr>
        <p:spPr>
          <a:xfrm>
            <a:off x="4645152" y="1837944"/>
            <a:ext cx="28803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284C7"/>
                </a:solidFill>
                <a:latin typeface="Segoe UI"/>
              </a:defRPr>
            </a:pPr>
            <a:r>
              <a:t>STAGE 02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STORAGE &amp; RISK ENGINE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8EC73C6-3343-5B5F-A20D-C2E36835FA7D}"/>
              </a:ext>
            </a:extLst>
          </p:cNvPr>
          <p:cNvSpPr/>
          <p:nvPr/>
        </p:nvSpPr>
        <p:spPr>
          <a:xfrm>
            <a:off x="4599432" y="2286000"/>
            <a:ext cx="2971800" cy="1691640"/>
          </a:xfrm>
          <a:prstGeom prst="roundRect">
            <a:avLst>
              <a:gd name="adj" fmla="val 9160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8D8E5E-D931-4165-BECD-859704667C0A}"/>
              </a:ext>
            </a:extLst>
          </p:cNvPr>
          <p:cNvSpPr txBox="1"/>
          <p:nvPr/>
        </p:nvSpPr>
        <p:spPr>
          <a:xfrm>
            <a:off x="4736592" y="2414016"/>
            <a:ext cx="2697480" cy="1435608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5803D"/>
                </a:solidFill>
                <a:latin typeface="Segoe UI"/>
              </a:defRPr>
            </a:pPr>
            <a:r>
              <a:t>Persistence &amp; Storage Layer</a:t>
            </a:r>
          </a:p>
          <a:p>
            <a:pPr>
              <a:spcBef>
                <a:spcPts val="15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PostgreSQL 15+ Relational Database Engine</a:t>
            </a:r>
          </a:p>
          <a:p>
            <a:pPr>
              <a:spcBef>
                <a:spcPts val="15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Tables: ingestion_runs | data_sources</a:t>
            </a:r>
          </a:p>
          <a:p>
            <a:pPr>
              <a:spcBef>
                <a:spcPts val="15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Tables: cyber_incidents | vulnerabilities</a:t>
            </a:r>
          </a:p>
          <a:p>
            <a:pPr>
              <a:spcBef>
                <a:spcPts val="15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Junctions: incident_vulnerabilities | risk_assessments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6FEE49-5566-949B-1D51-6183AD7D37FD}"/>
              </a:ext>
            </a:extLst>
          </p:cNvPr>
          <p:cNvSpPr txBox="1"/>
          <p:nvPr/>
        </p:nvSpPr>
        <p:spPr>
          <a:xfrm>
            <a:off x="5447337" y="4058540"/>
            <a:ext cx="1275990" cy="13080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anchor="ctr">
            <a:spAutoFit/>
          </a:bodyPr>
          <a:lstStyle/>
          <a:p>
            <a:pPr algn="ctr">
              <a:defRPr sz="850" b="1">
                <a:solidFill>
                  <a:srgbClr val="0284C7"/>
                </a:solidFill>
                <a:latin typeface="Segoe UI"/>
              </a:defRPr>
            </a:pPr>
            <a:r>
              <a:rPr dirty="0"/>
              <a:t>▼  Automated Data Flow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F015A34-2796-8819-4E8A-C715517E7DEA}"/>
              </a:ext>
            </a:extLst>
          </p:cNvPr>
          <p:cNvSpPr/>
          <p:nvPr/>
        </p:nvSpPr>
        <p:spPr>
          <a:xfrm>
            <a:off x="4599432" y="4297680"/>
            <a:ext cx="2971800" cy="1691640"/>
          </a:xfrm>
          <a:prstGeom prst="roundRect">
            <a:avLst>
              <a:gd name="adj" fmla="val 8878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579CE9-0C68-C90D-7817-4E68787D45D3}"/>
              </a:ext>
            </a:extLst>
          </p:cNvPr>
          <p:cNvSpPr txBox="1"/>
          <p:nvPr/>
        </p:nvSpPr>
        <p:spPr>
          <a:xfrm>
            <a:off x="4736592" y="4425696"/>
            <a:ext cx="2697480" cy="1435608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6D28D9"/>
                </a:solidFill>
                <a:latin typeface="Segoe UI"/>
              </a:defRPr>
            </a:pPr>
            <a:r>
              <a:t>Analytics &amp; Risk Engine Layer</a:t>
            </a:r>
          </a:p>
          <a:p>
            <a:pPr>
              <a:spcBef>
                <a:spcPts val="15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AnalyticsService (Core Engine Orchestrator)</a:t>
            </a:r>
          </a:p>
          <a:p>
            <a:pPr>
              <a:spcBef>
                <a:spcPts val="15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NCRI Engine (4-Weighted Composite Scoring)</a:t>
            </a:r>
          </a:p>
          <a:p>
            <a:pPr>
              <a:spcBef>
                <a:spcPts val="15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Predictive Analytics &amp; Forecasting Models</a:t>
            </a:r>
          </a:p>
          <a:p>
            <a:pPr>
              <a:spcBef>
                <a:spcPts val="15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Sectoral &amp; Temporal Aggregation Workers</a:t>
            </a:r>
          </a:p>
        </p:txBody>
      </p:sp>
    </p:spTree>
    <p:extLst>
      <p:ext uri="{BB962C8B-B14F-4D97-AF65-F5344CB8AC3E}">
        <p14:creationId xmlns:p14="http://schemas.microsoft.com/office/powerpoint/2010/main" val="26392242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6A134-E8D4-DF6D-9642-7F6193306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EE2D2F-BAF5-1F88-1F91-E05F1353FD0F}"/>
              </a:ext>
            </a:extLst>
          </p:cNvPr>
          <p:cNvSpPr txBox="1"/>
          <p:nvPr/>
        </p:nvSpPr>
        <p:spPr>
          <a:xfrm>
            <a:off x="731520" y="758952"/>
            <a:ext cx="10728655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System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42EBBD-2CC6-65CB-AEDA-89E5E3D91739}"/>
              </a:ext>
            </a:extLst>
          </p:cNvPr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Modular layered architecture connecting data ingestion, persistent storage, analytics modeling, and client presentation.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6D238B1-C29B-98B9-F0BD-9AB224CF797B}"/>
              </a:ext>
            </a:extLst>
          </p:cNvPr>
          <p:cNvSpPr/>
          <p:nvPr/>
        </p:nvSpPr>
        <p:spPr>
          <a:xfrm>
            <a:off x="731520" y="1691640"/>
            <a:ext cx="3337560" cy="4389120"/>
          </a:xfrm>
          <a:prstGeom prst="roundRect">
            <a:avLst>
              <a:gd name="adj" fmla="val 6849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5DA666-5EFA-2FEC-07C2-6BB77B6EEAC8}"/>
              </a:ext>
            </a:extLst>
          </p:cNvPr>
          <p:cNvSpPr txBox="1"/>
          <p:nvPr/>
        </p:nvSpPr>
        <p:spPr>
          <a:xfrm>
            <a:off x="960120" y="1837944"/>
            <a:ext cx="28803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284C7"/>
                </a:solidFill>
                <a:latin typeface="Segoe UI"/>
              </a:defRPr>
            </a:pPr>
            <a:r>
              <a:t>STAGE 01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DATA INGESTION &amp; PIPELINE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34AA2D2-D56E-AEDA-638E-1BC2562195FC}"/>
              </a:ext>
            </a:extLst>
          </p:cNvPr>
          <p:cNvSpPr/>
          <p:nvPr/>
        </p:nvSpPr>
        <p:spPr>
          <a:xfrm>
            <a:off x="914400" y="2286000"/>
            <a:ext cx="2971800" cy="1691640"/>
          </a:xfrm>
          <a:prstGeom prst="roundRect">
            <a:avLst>
              <a:gd name="adj" fmla="val 8596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E081F3-DF0D-DAA5-0D47-F2F6370DD8E5}"/>
              </a:ext>
            </a:extLst>
          </p:cNvPr>
          <p:cNvSpPr txBox="1"/>
          <p:nvPr/>
        </p:nvSpPr>
        <p:spPr>
          <a:xfrm>
            <a:off x="1051560" y="2414016"/>
            <a:ext cx="2697480" cy="1435608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7E22CE"/>
                </a:solidFill>
                <a:latin typeface="Segoe UI"/>
              </a:defRPr>
            </a:pPr>
            <a:r>
              <a:rPr dirty="0"/>
              <a:t>Data Acquisition Layer</a:t>
            </a:r>
          </a:p>
          <a:p>
            <a:pPr>
              <a:spcBef>
                <a:spcPts val="15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rPr dirty="0"/>
              <a:t>• </a:t>
            </a:r>
            <a:r>
              <a:rPr dirty="0" err="1"/>
              <a:t>Ransomware.live</a:t>
            </a:r>
            <a:r>
              <a:rPr dirty="0"/>
              <a:t> (REST API Feed)</a:t>
            </a:r>
          </a:p>
          <a:p>
            <a:pPr>
              <a:spcBef>
                <a:spcPts val="15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rPr dirty="0"/>
              <a:t>• UMD CISSM Database (Global CSV Export)</a:t>
            </a:r>
          </a:p>
          <a:p>
            <a:pPr>
              <a:spcBef>
                <a:spcPts val="15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rPr dirty="0"/>
              <a:t>• CISA KEV (Known Exploited JSON Catalog)</a:t>
            </a:r>
          </a:p>
          <a:p>
            <a:pPr>
              <a:spcBef>
                <a:spcPts val="15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rPr dirty="0"/>
              <a:t>• CERT-In Disclosures (National Curated CSV)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6CC17D-B9CD-A18D-ACC9-00CCEF27DA69}"/>
              </a:ext>
            </a:extLst>
          </p:cNvPr>
          <p:cNvSpPr txBox="1"/>
          <p:nvPr/>
        </p:nvSpPr>
        <p:spPr>
          <a:xfrm>
            <a:off x="1762305" y="4058540"/>
            <a:ext cx="1275990" cy="13080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anchor="ctr">
            <a:spAutoFit/>
          </a:bodyPr>
          <a:lstStyle/>
          <a:p>
            <a:pPr algn="ctr">
              <a:defRPr sz="850" b="1">
                <a:solidFill>
                  <a:srgbClr val="0284C7"/>
                </a:solidFill>
                <a:latin typeface="Segoe UI"/>
              </a:defRPr>
            </a:pPr>
            <a:r>
              <a:rPr dirty="0"/>
              <a:t>▼  Automated Data Flow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98F6EA2-21B1-9E17-AD29-FC824297B7C2}"/>
              </a:ext>
            </a:extLst>
          </p:cNvPr>
          <p:cNvSpPr/>
          <p:nvPr/>
        </p:nvSpPr>
        <p:spPr>
          <a:xfrm>
            <a:off x="914400" y="4297680"/>
            <a:ext cx="2971800" cy="1691640"/>
          </a:xfrm>
          <a:prstGeom prst="roundRect">
            <a:avLst>
              <a:gd name="adj" fmla="val 8221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8EF081-F0BA-7982-7250-542C48A4B287}"/>
              </a:ext>
            </a:extLst>
          </p:cNvPr>
          <p:cNvSpPr txBox="1"/>
          <p:nvPr/>
        </p:nvSpPr>
        <p:spPr>
          <a:xfrm>
            <a:off x="1051560" y="4425696"/>
            <a:ext cx="2697480" cy="1435608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B45309"/>
                </a:solidFill>
                <a:latin typeface="Segoe UI"/>
              </a:defRPr>
            </a:pPr>
            <a:r>
              <a:t>Ingestion &amp; Pipeline Layer</a:t>
            </a:r>
          </a:p>
          <a:p>
            <a:pPr>
              <a:spcBef>
                <a:spcPts val="15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BaseAdapter Interface (Universal Extractor)</a:t>
            </a:r>
          </a:p>
          <a:p>
            <a:pPr>
              <a:spcBef>
                <a:spcPts val="15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Normalization Engine (Taxonomy Harmonizer)</a:t>
            </a:r>
          </a:p>
          <a:p>
            <a:pPr>
              <a:spcBef>
                <a:spcPts val="15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Deduplication &amp; SHA-256 Fingerprinting</a:t>
            </a:r>
          </a:p>
          <a:p>
            <a:pPr>
              <a:spcBef>
                <a:spcPts val="15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Ingestion Run Auditor (Batch Run Tracking)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8B44DFD-EF15-9DB0-4FAE-7169FC6066CC}"/>
              </a:ext>
            </a:extLst>
          </p:cNvPr>
          <p:cNvSpPr/>
          <p:nvPr/>
        </p:nvSpPr>
        <p:spPr>
          <a:xfrm>
            <a:off x="4416552" y="1691640"/>
            <a:ext cx="3337560" cy="4389120"/>
          </a:xfrm>
          <a:prstGeom prst="roundRect">
            <a:avLst>
              <a:gd name="adj" fmla="val 7725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DA1F1C-8D94-45B2-A558-F81C2C198599}"/>
              </a:ext>
            </a:extLst>
          </p:cNvPr>
          <p:cNvSpPr txBox="1"/>
          <p:nvPr/>
        </p:nvSpPr>
        <p:spPr>
          <a:xfrm>
            <a:off x="4645152" y="1837944"/>
            <a:ext cx="28803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284C7"/>
                </a:solidFill>
                <a:latin typeface="Segoe UI"/>
              </a:defRPr>
            </a:pPr>
            <a:r>
              <a:t>STAGE 02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STORAGE &amp; RISK ENGINE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D678A4F-4ED9-BF26-8270-497C1E1EE638}"/>
              </a:ext>
            </a:extLst>
          </p:cNvPr>
          <p:cNvSpPr/>
          <p:nvPr/>
        </p:nvSpPr>
        <p:spPr>
          <a:xfrm>
            <a:off x="4599432" y="2286000"/>
            <a:ext cx="2971800" cy="1691640"/>
          </a:xfrm>
          <a:prstGeom prst="roundRect">
            <a:avLst>
              <a:gd name="adj" fmla="val 9160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E6FAAA-8EBA-C889-DC88-5EC89600AF29}"/>
              </a:ext>
            </a:extLst>
          </p:cNvPr>
          <p:cNvSpPr txBox="1"/>
          <p:nvPr/>
        </p:nvSpPr>
        <p:spPr>
          <a:xfrm>
            <a:off x="4736592" y="2414016"/>
            <a:ext cx="2697480" cy="1435608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5803D"/>
                </a:solidFill>
                <a:latin typeface="Segoe UI"/>
              </a:defRPr>
            </a:pPr>
            <a:r>
              <a:t>Persistence &amp; Storage Layer</a:t>
            </a:r>
          </a:p>
          <a:p>
            <a:pPr>
              <a:spcBef>
                <a:spcPts val="15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PostgreSQL 15+ Relational Database Engine</a:t>
            </a:r>
          </a:p>
          <a:p>
            <a:pPr>
              <a:spcBef>
                <a:spcPts val="15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Tables: ingestion_runs | data_sources</a:t>
            </a:r>
          </a:p>
          <a:p>
            <a:pPr>
              <a:spcBef>
                <a:spcPts val="15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Tables: cyber_incidents | vulnerabilities</a:t>
            </a:r>
          </a:p>
          <a:p>
            <a:pPr>
              <a:spcBef>
                <a:spcPts val="15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Junctions: incident_vulnerabilities | risk_assessments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A587A38-D629-F1B8-8FD4-11967EED5E95}"/>
              </a:ext>
            </a:extLst>
          </p:cNvPr>
          <p:cNvSpPr txBox="1"/>
          <p:nvPr/>
        </p:nvSpPr>
        <p:spPr>
          <a:xfrm>
            <a:off x="5447337" y="4058540"/>
            <a:ext cx="1275990" cy="13080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anchor="ctr">
            <a:spAutoFit/>
          </a:bodyPr>
          <a:lstStyle/>
          <a:p>
            <a:pPr algn="ctr">
              <a:defRPr sz="850" b="1">
                <a:solidFill>
                  <a:srgbClr val="0284C7"/>
                </a:solidFill>
                <a:latin typeface="Segoe UI"/>
              </a:defRPr>
            </a:pPr>
            <a:r>
              <a:rPr dirty="0"/>
              <a:t>▼  Automated Data Flow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8DCE190-5D05-F805-A67F-A2B522E42E62}"/>
              </a:ext>
            </a:extLst>
          </p:cNvPr>
          <p:cNvSpPr/>
          <p:nvPr/>
        </p:nvSpPr>
        <p:spPr>
          <a:xfrm>
            <a:off x="4599432" y="4297680"/>
            <a:ext cx="2971800" cy="1691640"/>
          </a:xfrm>
          <a:prstGeom prst="roundRect">
            <a:avLst>
              <a:gd name="adj" fmla="val 8878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6DD842-EC7E-B1E5-5AAE-D7B30D17B205}"/>
              </a:ext>
            </a:extLst>
          </p:cNvPr>
          <p:cNvSpPr txBox="1"/>
          <p:nvPr/>
        </p:nvSpPr>
        <p:spPr>
          <a:xfrm>
            <a:off x="4736592" y="4425696"/>
            <a:ext cx="2697480" cy="1435608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6D28D9"/>
                </a:solidFill>
                <a:latin typeface="Segoe UI"/>
              </a:defRPr>
            </a:pPr>
            <a:r>
              <a:t>Analytics &amp; Risk Engine Layer</a:t>
            </a:r>
          </a:p>
          <a:p>
            <a:pPr>
              <a:spcBef>
                <a:spcPts val="15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AnalyticsService (Core Engine Orchestrator)</a:t>
            </a:r>
          </a:p>
          <a:p>
            <a:pPr>
              <a:spcBef>
                <a:spcPts val="15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NCRI Engine (4-Weighted Composite Scoring)</a:t>
            </a:r>
          </a:p>
          <a:p>
            <a:pPr>
              <a:spcBef>
                <a:spcPts val="15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Predictive Analytics &amp; Forecasting Models</a:t>
            </a:r>
          </a:p>
          <a:p>
            <a:pPr>
              <a:spcBef>
                <a:spcPts val="15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Sectoral &amp; Temporal Aggregation Workers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0577E1D-7371-097B-0CA7-6AF4811504AD}"/>
              </a:ext>
            </a:extLst>
          </p:cNvPr>
          <p:cNvSpPr/>
          <p:nvPr/>
        </p:nvSpPr>
        <p:spPr>
          <a:xfrm>
            <a:off x="8101584" y="1691640"/>
            <a:ext cx="3337560" cy="4389120"/>
          </a:xfrm>
          <a:prstGeom prst="roundRect">
            <a:avLst>
              <a:gd name="adj" fmla="val 8248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FD8CD5A-51A0-1DCE-06FB-579CFF874F82}"/>
              </a:ext>
            </a:extLst>
          </p:cNvPr>
          <p:cNvSpPr txBox="1"/>
          <p:nvPr/>
        </p:nvSpPr>
        <p:spPr>
          <a:xfrm>
            <a:off x="8330184" y="1837944"/>
            <a:ext cx="28803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284C7"/>
                </a:solidFill>
                <a:latin typeface="Segoe UI"/>
              </a:defRPr>
            </a:pPr>
            <a:r>
              <a:t>STAGE 03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APPLICATION &amp; PRESENTATION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C7244E3-1FDE-7B91-755D-F748B1707DA7}"/>
              </a:ext>
            </a:extLst>
          </p:cNvPr>
          <p:cNvSpPr/>
          <p:nvPr/>
        </p:nvSpPr>
        <p:spPr>
          <a:xfrm>
            <a:off x="8284464" y="2286000"/>
            <a:ext cx="2971800" cy="1691640"/>
          </a:xfrm>
          <a:prstGeom prst="roundRect">
            <a:avLst>
              <a:gd name="adj" fmla="val 9066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65F0DD-F443-C405-D1AC-5F1D073FBA79}"/>
              </a:ext>
            </a:extLst>
          </p:cNvPr>
          <p:cNvSpPr txBox="1"/>
          <p:nvPr/>
        </p:nvSpPr>
        <p:spPr>
          <a:xfrm>
            <a:off x="8421624" y="2414016"/>
            <a:ext cx="2697480" cy="1435608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BE185D"/>
                </a:solidFill>
                <a:latin typeface="Segoe UI"/>
              </a:defRPr>
            </a:pPr>
            <a:r>
              <a:rPr dirty="0"/>
              <a:t>REST API Application Layer</a:t>
            </a:r>
          </a:p>
          <a:p>
            <a:pPr>
              <a:spcBef>
                <a:spcPts val="15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rPr dirty="0"/>
              <a:t>• FastAPI Asynchronous Web Framework</a:t>
            </a:r>
          </a:p>
          <a:p>
            <a:pPr>
              <a:spcBef>
                <a:spcPts val="15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rPr dirty="0"/>
              <a:t>• Pydantic v2 (Strict Schema Validation)</a:t>
            </a:r>
          </a:p>
          <a:p>
            <a:pPr>
              <a:spcBef>
                <a:spcPts val="15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rPr dirty="0"/>
              <a:t>• SQLAlchemy 2.0 ORM &amp; Connection Pools</a:t>
            </a:r>
          </a:p>
          <a:p>
            <a:pPr>
              <a:spcBef>
                <a:spcPts val="15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rPr dirty="0"/>
              <a:t>• Modular Endpoints (/incidents, /risk, /sources)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299D23-D0F0-929B-3005-1C164DC24A9D}"/>
              </a:ext>
            </a:extLst>
          </p:cNvPr>
          <p:cNvSpPr txBox="1"/>
          <p:nvPr/>
        </p:nvSpPr>
        <p:spPr>
          <a:xfrm>
            <a:off x="9132369" y="4058540"/>
            <a:ext cx="1275990" cy="13080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anchor="ctr">
            <a:spAutoFit/>
          </a:bodyPr>
          <a:lstStyle/>
          <a:p>
            <a:pPr algn="ctr">
              <a:defRPr sz="850" b="1">
                <a:solidFill>
                  <a:srgbClr val="0284C7"/>
                </a:solidFill>
                <a:latin typeface="Segoe UI"/>
              </a:defRPr>
            </a:pPr>
            <a:r>
              <a:rPr dirty="0"/>
              <a:t>▼  Automated Data Flow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2257A99-070D-7950-D8AF-C621510B182A}"/>
              </a:ext>
            </a:extLst>
          </p:cNvPr>
          <p:cNvSpPr/>
          <p:nvPr/>
        </p:nvSpPr>
        <p:spPr>
          <a:xfrm>
            <a:off x="8284464" y="4297680"/>
            <a:ext cx="2971800" cy="1691640"/>
          </a:xfrm>
          <a:prstGeom prst="roundRect">
            <a:avLst>
              <a:gd name="adj" fmla="val 9629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94FD541-116B-2D96-330F-A499DB4D7621}"/>
              </a:ext>
            </a:extLst>
          </p:cNvPr>
          <p:cNvSpPr txBox="1"/>
          <p:nvPr/>
        </p:nvSpPr>
        <p:spPr>
          <a:xfrm>
            <a:off x="8421624" y="4425696"/>
            <a:ext cx="2697480" cy="1435608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369A1"/>
                </a:solidFill>
                <a:latin typeface="Segoe UI"/>
              </a:defRPr>
            </a:pPr>
            <a:r>
              <a:t>Presentation &amp; Frontend Layer</a:t>
            </a:r>
          </a:p>
          <a:p>
            <a:pPr>
              <a:spcBef>
                <a:spcPts val="15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Next.js 14 App Router | React 18 Framework</a:t>
            </a:r>
          </a:p>
          <a:p>
            <a:pPr>
              <a:spcBef>
                <a:spcPts val="15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TypeScript | Tailwind CSS Design Tokens</a:t>
            </a:r>
          </a:p>
          <a:p>
            <a:pPr>
              <a:spcBef>
                <a:spcPts val="15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Recharts Dynamic Analytics &amp; Trend Visuals</a:t>
            </a:r>
          </a:p>
          <a:p>
            <a:pPr>
              <a:spcBef>
                <a:spcPts val="15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• Interactive Situational Dashboard (Port 3000)</a:t>
            </a:r>
          </a:p>
        </p:txBody>
      </p:sp>
    </p:spTree>
    <p:extLst>
      <p:ext uri="{BB962C8B-B14F-4D97-AF65-F5344CB8AC3E}">
        <p14:creationId xmlns:p14="http://schemas.microsoft.com/office/powerpoint/2010/main" val="1076522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758952"/>
            <a:ext cx="10728655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How Data Becomes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Standardized incident records flow through analytics to reveal patterns, context, and action.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840480" cy="4389120"/>
          </a:xfrm>
          <a:prstGeom prst="roundRect">
            <a:avLst>
              <a:gd name="adj" fmla="val 7614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3291840" cy="34394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rPr sz="2000" dirty="0"/>
              <a:t>DATA MATURATION STAGES</a:t>
            </a:r>
          </a:p>
          <a:p>
            <a:pPr>
              <a:spcBef>
                <a:spcPts val="1400"/>
              </a:spcBef>
              <a:defRPr sz="900" b="1">
                <a:solidFill>
                  <a:srgbClr val="2563EB"/>
                </a:solidFill>
                <a:latin typeface="Segoe UI"/>
              </a:defRPr>
            </a:pPr>
            <a:r>
              <a:rPr sz="1400" dirty="0"/>
              <a:t>STAGE 1</a:t>
            </a:r>
            <a:r>
              <a:rPr lang="en-US" sz="1400" dirty="0"/>
              <a:t> - </a:t>
            </a:r>
            <a:r>
              <a:rPr lang="en-IN" sz="1400" dirty="0"/>
              <a:t>Standardized Incident Records</a:t>
            </a:r>
          </a:p>
          <a:p>
            <a:pPr>
              <a:spcBef>
                <a:spcPts val="200"/>
              </a:spcBef>
              <a:defRPr sz="1050">
                <a:solidFill>
                  <a:srgbClr val="475569"/>
                </a:solidFill>
                <a:latin typeface="Segoe UI"/>
              </a:defRPr>
            </a:pPr>
            <a:r>
              <a:rPr dirty="0"/>
              <a:t>Cleaned raw records parsed across feeds with unified temporal, geographic, and attack-type attributes.</a:t>
            </a:r>
          </a:p>
          <a:p>
            <a:pPr>
              <a:spcBef>
                <a:spcPts val="1400"/>
              </a:spcBef>
              <a:defRPr sz="900" b="1">
                <a:solidFill>
                  <a:srgbClr val="2563EB"/>
                </a:solidFill>
                <a:latin typeface="Segoe UI"/>
              </a:defRPr>
            </a:pPr>
            <a:r>
              <a:rPr sz="1400" dirty="0"/>
              <a:t>STAGE 2</a:t>
            </a:r>
            <a:r>
              <a:rPr lang="en-US" sz="1400" dirty="0"/>
              <a:t> - </a:t>
            </a:r>
            <a:r>
              <a:rPr sz="1400" dirty="0"/>
              <a:t>Aggregated &amp; Normalized Data</a:t>
            </a:r>
          </a:p>
          <a:p>
            <a:pPr>
              <a:spcBef>
                <a:spcPts val="200"/>
              </a:spcBef>
              <a:defRPr sz="1050">
                <a:solidFill>
                  <a:srgbClr val="475569"/>
                </a:solidFill>
                <a:latin typeface="Segoe UI"/>
              </a:defRPr>
            </a:pPr>
            <a:r>
              <a:rPr dirty="0"/>
              <a:t>Sector-level groupings, time-series binning, and severity normalizations structured for analytical modeling.</a:t>
            </a:r>
          </a:p>
          <a:p>
            <a:pPr>
              <a:spcBef>
                <a:spcPts val="1400"/>
              </a:spcBef>
              <a:defRPr sz="900" b="1">
                <a:solidFill>
                  <a:srgbClr val="2563EB"/>
                </a:solidFill>
                <a:latin typeface="Segoe UI"/>
              </a:defRPr>
            </a:pPr>
            <a:r>
              <a:rPr sz="1400" dirty="0"/>
              <a:t>STAGE 3</a:t>
            </a:r>
            <a:r>
              <a:rPr lang="en-US" sz="1400" dirty="0"/>
              <a:t> - </a:t>
            </a:r>
            <a:r>
              <a:rPr sz="1400" dirty="0"/>
              <a:t>Analytics Engine &amp; Models</a:t>
            </a:r>
          </a:p>
          <a:p>
            <a:pPr>
              <a:spcBef>
                <a:spcPts val="200"/>
              </a:spcBef>
              <a:defRPr sz="1050">
                <a:solidFill>
                  <a:srgbClr val="475569"/>
                </a:solidFill>
                <a:latin typeface="Segoe UI"/>
              </a:defRPr>
            </a:pPr>
            <a:r>
              <a:rPr dirty="0"/>
              <a:t>Mathematical computation of weighted risk indices, rolling trendlines, and anomaly detection algorithms.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41504-C132-C5D5-C2ED-91F2DEF13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B78CB0-E18C-6B3E-6D95-865BFE8A4221}"/>
              </a:ext>
            </a:extLst>
          </p:cNvPr>
          <p:cNvSpPr txBox="1"/>
          <p:nvPr/>
        </p:nvSpPr>
        <p:spPr>
          <a:xfrm>
            <a:off x="731520" y="758952"/>
            <a:ext cx="10728655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How Data Becomes Insight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B1BB70-A1DF-9DE8-3DC0-2F7AF9E91400}"/>
              </a:ext>
            </a:extLst>
          </p:cNvPr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Standardized incident records flow through analytics to reveal patterns, context, and action.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10E316D-4D96-5D36-77DE-55DE35B03AB7}"/>
              </a:ext>
            </a:extLst>
          </p:cNvPr>
          <p:cNvSpPr/>
          <p:nvPr/>
        </p:nvSpPr>
        <p:spPr>
          <a:xfrm>
            <a:off x="731520" y="1691640"/>
            <a:ext cx="3840480" cy="4389120"/>
          </a:xfrm>
          <a:prstGeom prst="roundRect">
            <a:avLst>
              <a:gd name="adj" fmla="val 7614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430598-57A5-4D91-8614-AEA384E16849}"/>
              </a:ext>
            </a:extLst>
          </p:cNvPr>
          <p:cNvSpPr txBox="1"/>
          <p:nvPr/>
        </p:nvSpPr>
        <p:spPr>
          <a:xfrm>
            <a:off x="1005840" y="2011680"/>
            <a:ext cx="3291840" cy="34394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rPr sz="2000" dirty="0"/>
              <a:t>DATA MATURATION STAGES</a:t>
            </a:r>
          </a:p>
          <a:p>
            <a:pPr>
              <a:spcBef>
                <a:spcPts val="1400"/>
              </a:spcBef>
              <a:defRPr sz="900" b="1">
                <a:solidFill>
                  <a:srgbClr val="2563EB"/>
                </a:solidFill>
                <a:latin typeface="Segoe UI"/>
              </a:defRPr>
            </a:pPr>
            <a:r>
              <a:rPr sz="1400" dirty="0"/>
              <a:t>STAGE 1</a:t>
            </a:r>
            <a:r>
              <a:rPr lang="en-US" sz="1400" dirty="0"/>
              <a:t> - </a:t>
            </a:r>
            <a:r>
              <a:rPr lang="en-IN" sz="1400" dirty="0"/>
              <a:t>Standardized Incident Records</a:t>
            </a:r>
          </a:p>
          <a:p>
            <a:pPr>
              <a:spcBef>
                <a:spcPts val="200"/>
              </a:spcBef>
              <a:defRPr sz="1050">
                <a:solidFill>
                  <a:srgbClr val="475569"/>
                </a:solidFill>
                <a:latin typeface="Segoe UI"/>
              </a:defRPr>
            </a:pPr>
            <a:r>
              <a:rPr dirty="0"/>
              <a:t>Cleaned raw records parsed across feeds with unified temporal, geographic, and attack-type attributes.</a:t>
            </a:r>
          </a:p>
          <a:p>
            <a:pPr>
              <a:spcBef>
                <a:spcPts val="1400"/>
              </a:spcBef>
              <a:defRPr sz="900" b="1">
                <a:solidFill>
                  <a:srgbClr val="2563EB"/>
                </a:solidFill>
                <a:latin typeface="Segoe UI"/>
              </a:defRPr>
            </a:pPr>
            <a:r>
              <a:rPr sz="1400" dirty="0"/>
              <a:t>STAGE 2</a:t>
            </a:r>
            <a:r>
              <a:rPr lang="en-US" sz="1400" dirty="0"/>
              <a:t> - </a:t>
            </a:r>
            <a:r>
              <a:rPr sz="1400" dirty="0"/>
              <a:t>Aggregated &amp; Normalized Data</a:t>
            </a:r>
          </a:p>
          <a:p>
            <a:pPr>
              <a:spcBef>
                <a:spcPts val="200"/>
              </a:spcBef>
              <a:defRPr sz="1050">
                <a:solidFill>
                  <a:srgbClr val="475569"/>
                </a:solidFill>
                <a:latin typeface="Segoe UI"/>
              </a:defRPr>
            </a:pPr>
            <a:r>
              <a:rPr dirty="0"/>
              <a:t>Sector-level groupings, time-series binning, and severity normalizations structured for analytical modeling.</a:t>
            </a:r>
          </a:p>
          <a:p>
            <a:pPr>
              <a:spcBef>
                <a:spcPts val="1400"/>
              </a:spcBef>
              <a:defRPr sz="900" b="1">
                <a:solidFill>
                  <a:srgbClr val="2563EB"/>
                </a:solidFill>
                <a:latin typeface="Segoe UI"/>
              </a:defRPr>
            </a:pPr>
            <a:r>
              <a:rPr sz="1400" dirty="0"/>
              <a:t>STAGE 3</a:t>
            </a:r>
            <a:r>
              <a:rPr lang="en-US" sz="1400" dirty="0"/>
              <a:t> - </a:t>
            </a:r>
            <a:r>
              <a:rPr sz="1400" dirty="0"/>
              <a:t>Analytics Engine &amp; Models</a:t>
            </a:r>
          </a:p>
          <a:p>
            <a:pPr>
              <a:spcBef>
                <a:spcPts val="200"/>
              </a:spcBef>
              <a:defRPr sz="1050">
                <a:solidFill>
                  <a:srgbClr val="475569"/>
                </a:solidFill>
                <a:latin typeface="Segoe UI"/>
              </a:defRPr>
            </a:pPr>
            <a:r>
              <a:rPr dirty="0"/>
              <a:t>Mathematical computation of weighted risk indices, rolling trendlines, and anomaly detection algorithms.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0966E81-89B2-DF72-4A97-DBD86B6D6912}"/>
              </a:ext>
            </a:extLst>
          </p:cNvPr>
          <p:cNvSpPr/>
          <p:nvPr/>
        </p:nvSpPr>
        <p:spPr>
          <a:xfrm>
            <a:off x="4937760" y="1691640"/>
            <a:ext cx="6522415" cy="4389120"/>
          </a:xfrm>
          <a:prstGeom prst="roundRect">
            <a:avLst>
              <a:gd name="adj" fmla="val 7118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98570B-C613-7DEC-33DB-ACC89146D7D8}"/>
              </a:ext>
            </a:extLst>
          </p:cNvPr>
          <p:cNvSpPr txBox="1"/>
          <p:nvPr/>
        </p:nvSpPr>
        <p:spPr>
          <a:xfrm>
            <a:off x="5212080" y="2011680"/>
            <a:ext cx="597377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ANALYTICAL OUTPUTS &amp; DASHBOARD CAPABILITIES</a:t>
            </a:r>
          </a:p>
        </p:txBody>
      </p:sp>
    </p:spTree>
    <p:extLst>
      <p:ext uri="{BB962C8B-B14F-4D97-AF65-F5344CB8AC3E}">
        <p14:creationId xmlns:p14="http://schemas.microsoft.com/office/powerpoint/2010/main" val="3285819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570FA-E6D5-9E09-93EA-5DE343293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6CB9C3-F9FE-A527-92F1-0B94CCB7AA46}"/>
              </a:ext>
            </a:extLst>
          </p:cNvPr>
          <p:cNvSpPr txBox="1"/>
          <p:nvPr/>
        </p:nvSpPr>
        <p:spPr>
          <a:xfrm>
            <a:off x="731520" y="758952"/>
            <a:ext cx="10728655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How Data Becomes Insight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DAC760-F658-DC39-53C2-8890CF85C6BB}"/>
              </a:ext>
            </a:extLst>
          </p:cNvPr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Standardized incident records flow through analytics to reveal patterns, context, and action.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D02AD46-82EA-3B46-11F3-0229E69BFF38}"/>
              </a:ext>
            </a:extLst>
          </p:cNvPr>
          <p:cNvSpPr/>
          <p:nvPr/>
        </p:nvSpPr>
        <p:spPr>
          <a:xfrm>
            <a:off x="731520" y="1691640"/>
            <a:ext cx="3840480" cy="4389120"/>
          </a:xfrm>
          <a:prstGeom prst="roundRect">
            <a:avLst>
              <a:gd name="adj" fmla="val 7614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9324E5-CEBC-1A8D-F139-C97B8408CC6D}"/>
              </a:ext>
            </a:extLst>
          </p:cNvPr>
          <p:cNvSpPr txBox="1"/>
          <p:nvPr/>
        </p:nvSpPr>
        <p:spPr>
          <a:xfrm>
            <a:off x="1005840" y="2011680"/>
            <a:ext cx="3291840" cy="34394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rPr sz="2000" dirty="0"/>
              <a:t>DATA MATURATION STAGES</a:t>
            </a:r>
          </a:p>
          <a:p>
            <a:pPr>
              <a:spcBef>
                <a:spcPts val="1400"/>
              </a:spcBef>
              <a:defRPr sz="900" b="1">
                <a:solidFill>
                  <a:srgbClr val="2563EB"/>
                </a:solidFill>
                <a:latin typeface="Segoe UI"/>
              </a:defRPr>
            </a:pPr>
            <a:r>
              <a:rPr sz="1400" dirty="0"/>
              <a:t>STAGE 1</a:t>
            </a:r>
            <a:r>
              <a:rPr lang="en-US" sz="1400" dirty="0"/>
              <a:t> - </a:t>
            </a:r>
            <a:r>
              <a:rPr lang="en-IN" sz="1400" dirty="0"/>
              <a:t>Standardized Incident Records</a:t>
            </a:r>
          </a:p>
          <a:p>
            <a:pPr>
              <a:spcBef>
                <a:spcPts val="200"/>
              </a:spcBef>
              <a:defRPr sz="1050">
                <a:solidFill>
                  <a:srgbClr val="475569"/>
                </a:solidFill>
                <a:latin typeface="Segoe UI"/>
              </a:defRPr>
            </a:pPr>
            <a:r>
              <a:rPr dirty="0"/>
              <a:t>Cleaned raw records parsed across feeds with unified temporal, geographic, and attack-type attributes.</a:t>
            </a:r>
          </a:p>
          <a:p>
            <a:pPr>
              <a:spcBef>
                <a:spcPts val="1400"/>
              </a:spcBef>
              <a:defRPr sz="900" b="1">
                <a:solidFill>
                  <a:srgbClr val="2563EB"/>
                </a:solidFill>
                <a:latin typeface="Segoe UI"/>
              </a:defRPr>
            </a:pPr>
            <a:r>
              <a:rPr sz="1400" dirty="0"/>
              <a:t>STAGE 2</a:t>
            </a:r>
            <a:r>
              <a:rPr lang="en-US" sz="1400" dirty="0"/>
              <a:t> - </a:t>
            </a:r>
            <a:r>
              <a:rPr sz="1400" dirty="0"/>
              <a:t>Aggregated &amp; Normalized Data</a:t>
            </a:r>
          </a:p>
          <a:p>
            <a:pPr>
              <a:spcBef>
                <a:spcPts val="200"/>
              </a:spcBef>
              <a:defRPr sz="1050">
                <a:solidFill>
                  <a:srgbClr val="475569"/>
                </a:solidFill>
                <a:latin typeface="Segoe UI"/>
              </a:defRPr>
            </a:pPr>
            <a:r>
              <a:rPr dirty="0"/>
              <a:t>Sector-level groupings, time-series binning, and severity normalizations structured for analytical modeling.</a:t>
            </a:r>
          </a:p>
          <a:p>
            <a:pPr>
              <a:spcBef>
                <a:spcPts val="1400"/>
              </a:spcBef>
              <a:defRPr sz="900" b="1">
                <a:solidFill>
                  <a:srgbClr val="2563EB"/>
                </a:solidFill>
                <a:latin typeface="Segoe UI"/>
              </a:defRPr>
            </a:pPr>
            <a:r>
              <a:rPr sz="1400" dirty="0"/>
              <a:t>STAGE 3</a:t>
            </a:r>
            <a:r>
              <a:rPr lang="en-US" sz="1400" dirty="0"/>
              <a:t> - </a:t>
            </a:r>
            <a:r>
              <a:rPr sz="1400" dirty="0"/>
              <a:t>Analytics Engine &amp; Models</a:t>
            </a:r>
          </a:p>
          <a:p>
            <a:pPr>
              <a:spcBef>
                <a:spcPts val="200"/>
              </a:spcBef>
              <a:defRPr sz="1050">
                <a:solidFill>
                  <a:srgbClr val="475569"/>
                </a:solidFill>
                <a:latin typeface="Segoe UI"/>
              </a:defRPr>
            </a:pPr>
            <a:r>
              <a:rPr dirty="0"/>
              <a:t>Mathematical computation of weighted risk indices, rolling trendlines, and anomaly detection algorithms.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6A4453E-0597-8740-128D-17B8422E0E78}"/>
              </a:ext>
            </a:extLst>
          </p:cNvPr>
          <p:cNvSpPr/>
          <p:nvPr/>
        </p:nvSpPr>
        <p:spPr>
          <a:xfrm>
            <a:off x="4937760" y="1691640"/>
            <a:ext cx="6522415" cy="4389120"/>
          </a:xfrm>
          <a:prstGeom prst="roundRect">
            <a:avLst>
              <a:gd name="adj" fmla="val 7118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837AF6-ACDE-81DE-5EEE-E5C47BE9FE02}"/>
              </a:ext>
            </a:extLst>
          </p:cNvPr>
          <p:cNvSpPr txBox="1"/>
          <p:nvPr/>
        </p:nvSpPr>
        <p:spPr>
          <a:xfrm>
            <a:off x="5212080" y="2011680"/>
            <a:ext cx="597377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ANALYTICAL OUTPUTS &amp; DASHBOARD CAPABILITIES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5AD35B4-D00D-E323-B302-95132B3E3DA5}"/>
              </a:ext>
            </a:extLst>
          </p:cNvPr>
          <p:cNvSpPr/>
          <p:nvPr/>
        </p:nvSpPr>
        <p:spPr>
          <a:xfrm>
            <a:off x="5212080" y="2276855"/>
            <a:ext cx="5973775" cy="658368"/>
          </a:xfrm>
          <a:prstGeom prst="roundRect">
            <a:avLst>
              <a:gd name="adj" fmla="val 30773"/>
            </a:avLst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E6E6E9-48C7-9816-2E91-F85DE06C742B}"/>
              </a:ext>
            </a:extLst>
          </p:cNvPr>
          <p:cNvSpPr txBox="1"/>
          <p:nvPr/>
        </p:nvSpPr>
        <p:spPr>
          <a:xfrm>
            <a:off x="5394960" y="2350007"/>
            <a:ext cx="5608015" cy="5120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KPI Dashboards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rPr dirty="0"/>
              <a:t>Monitor key high-level indicators and explore granular incident records with real-time dynamic filtering.</a:t>
            </a:r>
          </a:p>
        </p:txBody>
      </p:sp>
    </p:spTree>
    <p:extLst>
      <p:ext uri="{BB962C8B-B14F-4D97-AF65-F5344CB8AC3E}">
        <p14:creationId xmlns:p14="http://schemas.microsoft.com/office/powerpoint/2010/main" val="1884430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B7F23-BA87-3BDC-77D0-4CC67FC43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2FF23E-35BE-DAE7-B767-2ED33FA748E9}"/>
              </a:ext>
            </a:extLst>
          </p:cNvPr>
          <p:cNvSpPr txBox="1"/>
          <p:nvPr/>
        </p:nvSpPr>
        <p:spPr>
          <a:xfrm>
            <a:off x="731520" y="758952"/>
            <a:ext cx="10728655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How Data Becomes Insight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2DC095-1791-F9AA-8E7F-9ACEF89C4E93}"/>
              </a:ext>
            </a:extLst>
          </p:cNvPr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Standardized incident records flow through analytics to reveal patterns, context, and action.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3B5FE9E-5BC9-B979-6A04-1247EDAAC9CE}"/>
              </a:ext>
            </a:extLst>
          </p:cNvPr>
          <p:cNvSpPr/>
          <p:nvPr/>
        </p:nvSpPr>
        <p:spPr>
          <a:xfrm>
            <a:off x="731520" y="1691640"/>
            <a:ext cx="3840480" cy="4389120"/>
          </a:xfrm>
          <a:prstGeom prst="roundRect">
            <a:avLst>
              <a:gd name="adj" fmla="val 7614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CF90F0-F0B0-8AF1-8D49-5C4BE2D6F0C9}"/>
              </a:ext>
            </a:extLst>
          </p:cNvPr>
          <p:cNvSpPr txBox="1"/>
          <p:nvPr/>
        </p:nvSpPr>
        <p:spPr>
          <a:xfrm>
            <a:off x="1005840" y="2011680"/>
            <a:ext cx="3291840" cy="34394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rPr sz="2000" dirty="0"/>
              <a:t>DATA MATURATION STAGES</a:t>
            </a:r>
          </a:p>
          <a:p>
            <a:pPr>
              <a:spcBef>
                <a:spcPts val="1400"/>
              </a:spcBef>
              <a:defRPr sz="900" b="1">
                <a:solidFill>
                  <a:srgbClr val="2563EB"/>
                </a:solidFill>
                <a:latin typeface="Segoe UI"/>
              </a:defRPr>
            </a:pPr>
            <a:r>
              <a:rPr sz="1400" dirty="0"/>
              <a:t>STAGE 1</a:t>
            </a:r>
            <a:r>
              <a:rPr lang="en-US" sz="1400" dirty="0"/>
              <a:t> - </a:t>
            </a:r>
            <a:r>
              <a:rPr lang="en-IN" sz="1400" dirty="0"/>
              <a:t>Standardized Incident Records</a:t>
            </a:r>
          </a:p>
          <a:p>
            <a:pPr>
              <a:spcBef>
                <a:spcPts val="200"/>
              </a:spcBef>
              <a:defRPr sz="1050">
                <a:solidFill>
                  <a:srgbClr val="475569"/>
                </a:solidFill>
                <a:latin typeface="Segoe UI"/>
              </a:defRPr>
            </a:pPr>
            <a:r>
              <a:rPr dirty="0"/>
              <a:t>Cleaned raw records parsed across feeds with unified temporal, geographic, and attack-type attributes.</a:t>
            </a:r>
          </a:p>
          <a:p>
            <a:pPr>
              <a:spcBef>
                <a:spcPts val="1400"/>
              </a:spcBef>
              <a:defRPr sz="900" b="1">
                <a:solidFill>
                  <a:srgbClr val="2563EB"/>
                </a:solidFill>
                <a:latin typeface="Segoe UI"/>
              </a:defRPr>
            </a:pPr>
            <a:r>
              <a:rPr sz="1400" dirty="0"/>
              <a:t>STAGE 2</a:t>
            </a:r>
            <a:r>
              <a:rPr lang="en-US" sz="1400" dirty="0"/>
              <a:t> - </a:t>
            </a:r>
            <a:r>
              <a:rPr sz="1400" dirty="0"/>
              <a:t>Aggregated &amp; Normalized Data</a:t>
            </a:r>
          </a:p>
          <a:p>
            <a:pPr>
              <a:spcBef>
                <a:spcPts val="200"/>
              </a:spcBef>
              <a:defRPr sz="1050">
                <a:solidFill>
                  <a:srgbClr val="475569"/>
                </a:solidFill>
                <a:latin typeface="Segoe UI"/>
              </a:defRPr>
            </a:pPr>
            <a:r>
              <a:rPr dirty="0"/>
              <a:t>Sector-level groupings, time-series binning, and severity normalizations structured for analytical modeling.</a:t>
            </a:r>
          </a:p>
          <a:p>
            <a:pPr>
              <a:spcBef>
                <a:spcPts val="1400"/>
              </a:spcBef>
              <a:defRPr sz="900" b="1">
                <a:solidFill>
                  <a:srgbClr val="2563EB"/>
                </a:solidFill>
                <a:latin typeface="Segoe UI"/>
              </a:defRPr>
            </a:pPr>
            <a:r>
              <a:rPr sz="1400" dirty="0"/>
              <a:t>STAGE 3</a:t>
            </a:r>
            <a:r>
              <a:rPr lang="en-US" sz="1400" dirty="0"/>
              <a:t> - </a:t>
            </a:r>
            <a:r>
              <a:rPr sz="1400" dirty="0"/>
              <a:t>Analytics Engine &amp; Models</a:t>
            </a:r>
          </a:p>
          <a:p>
            <a:pPr>
              <a:spcBef>
                <a:spcPts val="200"/>
              </a:spcBef>
              <a:defRPr sz="1050">
                <a:solidFill>
                  <a:srgbClr val="475569"/>
                </a:solidFill>
                <a:latin typeface="Segoe UI"/>
              </a:defRPr>
            </a:pPr>
            <a:r>
              <a:rPr dirty="0"/>
              <a:t>Mathematical computation of weighted risk indices, rolling trendlines, and anomaly detection algorithms.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4EF1AFA-6F72-EB41-273A-18E735A390F3}"/>
              </a:ext>
            </a:extLst>
          </p:cNvPr>
          <p:cNvSpPr/>
          <p:nvPr/>
        </p:nvSpPr>
        <p:spPr>
          <a:xfrm>
            <a:off x="4937760" y="1691640"/>
            <a:ext cx="6522415" cy="4389120"/>
          </a:xfrm>
          <a:prstGeom prst="roundRect">
            <a:avLst>
              <a:gd name="adj" fmla="val 7118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D3E751-66AD-E8F8-60B3-B225ED7B45FA}"/>
              </a:ext>
            </a:extLst>
          </p:cNvPr>
          <p:cNvSpPr txBox="1"/>
          <p:nvPr/>
        </p:nvSpPr>
        <p:spPr>
          <a:xfrm>
            <a:off x="5212080" y="2011680"/>
            <a:ext cx="597377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ANALYTICAL OUTPUTS &amp; DASHBOARD CAPABILITIES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10BD9E7-27DE-B7E5-3D02-EF5E9903DF87}"/>
              </a:ext>
            </a:extLst>
          </p:cNvPr>
          <p:cNvSpPr/>
          <p:nvPr/>
        </p:nvSpPr>
        <p:spPr>
          <a:xfrm>
            <a:off x="5212080" y="2276855"/>
            <a:ext cx="5973775" cy="658368"/>
          </a:xfrm>
          <a:prstGeom prst="roundRect">
            <a:avLst>
              <a:gd name="adj" fmla="val 30773"/>
            </a:avLst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BE6496-FA3C-199D-DC6C-519E804077FB}"/>
              </a:ext>
            </a:extLst>
          </p:cNvPr>
          <p:cNvSpPr txBox="1"/>
          <p:nvPr/>
        </p:nvSpPr>
        <p:spPr>
          <a:xfrm>
            <a:off x="5394960" y="2350007"/>
            <a:ext cx="5608015" cy="5120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KPI Dashboards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rPr dirty="0"/>
              <a:t>Monitor key high-level indicators and explore granular incident records with real-time dynamic filtering.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0B36069-9357-B975-C8E3-A6BC4740D06E}"/>
              </a:ext>
            </a:extLst>
          </p:cNvPr>
          <p:cNvSpPr/>
          <p:nvPr/>
        </p:nvSpPr>
        <p:spPr>
          <a:xfrm>
            <a:off x="5212080" y="3026663"/>
            <a:ext cx="5973775" cy="658368"/>
          </a:xfrm>
          <a:prstGeom prst="roundRect">
            <a:avLst>
              <a:gd name="adj" fmla="val 27879"/>
            </a:avLst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650F22-461B-A286-4DA3-36EA58FBC17F}"/>
              </a:ext>
            </a:extLst>
          </p:cNvPr>
          <p:cNvSpPr txBox="1"/>
          <p:nvPr/>
        </p:nvSpPr>
        <p:spPr>
          <a:xfrm>
            <a:off x="5394960" y="3099815"/>
            <a:ext cx="5608015" cy="5120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Temporal Trends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Track incident volumes over time with moving averages, seasonality detection, and historical comparisons.</a:t>
            </a:r>
          </a:p>
        </p:txBody>
      </p:sp>
    </p:spTree>
    <p:extLst>
      <p:ext uri="{BB962C8B-B14F-4D97-AF65-F5344CB8AC3E}">
        <p14:creationId xmlns:p14="http://schemas.microsoft.com/office/powerpoint/2010/main" val="11526445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0445A-0AD1-DF17-FA80-4924CCC6C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E267BB-9B95-5F9F-52B3-CB531F062904}"/>
              </a:ext>
            </a:extLst>
          </p:cNvPr>
          <p:cNvSpPr txBox="1"/>
          <p:nvPr/>
        </p:nvSpPr>
        <p:spPr>
          <a:xfrm>
            <a:off x="731520" y="758952"/>
            <a:ext cx="10728655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How Data Becomes Insight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18DE77-BCDD-8601-4914-6AE4DD9FDEC3}"/>
              </a:ext>
            </a:extLst>
          </p:cNvPr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Standardized incident records flow through analytics to reveal patterns, context, and action.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31BD15D-1D83-4703-735A-462372A60655}"/>
              </a:ext>
            </a:extLst>
          </p:cNvPr>
          <p:cNvSpPr/>
          <p:nvPr/>
        </p:nvSpPr>
        <p:spPr>
          <a:xfrm>
            <a:off x="731520" y="1691640"/>
            <a:ext cx="3840480" cy="4389120"/>
          </a:xfrm>
          <a:prstGeom prst="roundRect">
            <a:avLst>
              <a:gd name="adj" fmla="val 7614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017236-3E0F-70EA-899B-7C5EF4581E5C}"/>
              </a:ext>
            </a:extLst>
          </p:cNvPr>
          <p:cNvSpPr txBox="1"/>
          <p:nvPr/>
        </p:nvSpPr>
        <p:spPr>
          <a:xfrm>
            <a:off x="1005840" y="2011680"/>
            <a:ext cx="3291840" cy="34394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rPr sz="2000" dirty="0"/>
              <a:t>DATA MATURATION STAGES</a:t>
            </a:r>
          </a:p>
          <a:p>
            <a:pPr>
              <a:spcBef>
                <a:spcPts val="1400"/>
              </a:spcBef>
              <a:defRPr sz="900" b="1">
                <a:solidFill>
                  <a:srgbClr val="2563EB"/>
                </a:solidFill>
                <a:latin typeface="Segoe UI"/>
              </a:defRPr>
            </a:pPr>
            <a:r>
              <a:rPr sz="1400" dirty="0"/>
              <a:t>STAGE 1</a:t>
            </a:r>
            <a:r>
              <a:rPr lang="en-US" sz="1400" dirty="0"/>
              <a:t> - </a:t>
            </a:r>
            <a:r>
              <a:rPr lang="en-IN" sz="1400" dirty="0"/>
              <a:t>Standardized Incident Records</a:t>
            </a:r>
          </a:p>
          <a:p>
            <a:pPr>
              <a:spcBef>
                <a:spcPts val="200"/>
              </a:spcBef>
              <a:defRPr sz="1050">
                <a:solidFill>
                  <a:srgbClr val="475569"/>
                </a:solidFill>
                <a:latin typeface="Segoe UI"/>
              </a:defRPr>
            </a:pPr>
            <a:r>
              <a:rPr dirty="0"/>
              <a:t>Cleaned raw records parsed across feeds with unified temporal, geographic, and attack-type attributes.</a:t>
            </a:r>
          </a:p>
          <a:p>
            <a:pPr>
              <a:spcBef>
                <a:spcPts val="1400"/>
              </a:spcBef>
              <a:defRPr sz="900" b="1">
                <a:solidFill>
                  <a:srgbClr val="2563EB"/>
                </a:solidFill>
                <a:latin typeface="Segoe UI"/>
              </a:defRPr>
            </a:pPr>
            <a:r>
              <a:rPr sz="1400" dirty="0"/>
              <a:t>STAGE 2</a:t>
            </a:r>
            <a:r>
              <a:rPr lang="en-US" sz="1400" dirty="0"/>
              <a:t> - </a:t>
            </a:r>
            <a:r>
              <a:rPr sz="1400" dirty="0"/>
              <a:t>Aggregated &amp; Normalized Data</a:t>
            </a:r>
          </a:p>
          <a:p>
            <a:pPr>
              <a:spcBef>
                <a:spcPts val="200"/>
              </a:spcBef>
              <a:defRPr sz="1050">
                <a:solidFill>
                  <a:srgbClr val="475569"/>
                </a:solidFill>
                <a:latin typeface="Segoe UI"/>
              </a:defRPr>
            </a:pPr>
            <a:r>
              <a:rPr dirty="0"/>
              <a:t>Sector-level groupings, time-series binning, and severity normalizations structured for analytical modeling.</a:t>
            </a:r>
          </a:p>
          <a:p>
            <a:pPr>
              <a:spcBef>
                <a:spcPts val="1400"/>
              </a:spcBef>
              <a:defRPr sz="900" b="1">
                <a:solidFill>
                  <a:srgbClr val="2563EB"/>
                </a:solidFill>
                <a:latin typeface="Segoe UI"/>
              </a:defRPr>
            </a:pPr>
            <a:r>
              <a:rPr sz="1400" dirty="0"/>
              <a:t>STAGE 3</a:t>
            </a:r>
            <a:r>
              <a:rPr lang="en-US" sz="1400" dirty="0"/>
              <a:t> - </a:t>
            </a:r>
            <a:r>
              <a:rPr sz="1400" dirty="0"/>
              <a:t>Analytics Engine &amp; Models</a:t>
            </a:r>
          </a:p>
          <a:p>
            <a:pPr>
              <a:spcBef>
                <a:spcPts val="200"/>
              </a:spcBef>
              <a:defRPr sz="1050">
                <a:solidFill>
                  <a:srgbClr val="475569"/>
                </a:solidFill>
                <a:latin typeface="Segoe UI"/>
              </a:defRPr>
            </a:pPr>
            <a:r>
              <a:rPr dirty="0"/>
              <a:t>Mathematical computation of weighted risk indices, rolling trendlines, and anomaly detection algorithms.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7A6C761-B9C0-693B-2514-B313A8B628AC}"/>
              </a:ext>
            </a:extLst>
          </p:cNvPr>
          <p:cNvSpPr/>
          <p:nvPr/>
        </p:nvSpPr>
        <p:spPr>
          <a:xfrm>
            <a:off x="4937760" y="1691640"/>
            <a:ext cx="6522415" cy="4389120"/>
          </a:xfrm>
          <a:prstGeom prst="roundRect">
            <a:avLst>
              <a:gd name="adj" fmla="val 7118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A9175C-2215-F700-E036-D8E525E06794}"/>
              </a:ext>
            </a:extLst>
          </p:cNvPr>
          <p:cNvSpPr txBox="1"/>
          <p:nvPr/>
        </p:nvSpPr>
        <p:spPr>
          <a:xfrm>
            <a:off x="5212080" y="2011680"/>
            <a:ext cx="597377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ANALYTICAL OUTPUTS &amp; DASHBOARD CAPABILITIES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F067645-4C13-4AAD-1056-9D629B9CEA24}"/>
              </a:ext>
            </a:extLst>
          </p:cNvPr>
          <p:cNvSpPr/>
          <p:nvPr/>
        </p:nvSpPr>
        <p:spPr>
          <a:xfrm>
            <a:off x="5212080" y="2276855"/>
            <a:ext cx="5973775" cy="658368"/>
          </a:xfrm>
          <a:prstGeom prst="roundRect">
            <a:avLst>
              <a:gd name="adj" fmla="val 30773"/>
            </a:avLst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F4281F-ECDE-60D9-3C39-7694E4BD401F}"/>
              </a:ext>
            </a:extLst>
          </p:cNvPr>
          <p:cNvSpPr txBox="1"/>
          <p:nvPr/>
        </p:nvSpPr>
        <p:spPr>
          <a:xfrm>
            <a:off x="5394960" y="2350007"/>
            <a:ext cx="5608015" cy="5120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KPI Dashboards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rPr dirty="0"/>
              <a:t>Monitor key high-level indicators and explore granular incident records with real-time dynamic filtering.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49CC87E-F354-BEBC-5638-7B977A642CFC}"/>
              </a:ext>
            </a:extLst>
          </p:cNvPr>
          <p:cNvSpPr/>
          <p:nvPr/>
        </p:nvSpPr>
        <p:spPr>
          <a:xfrm>
            <a:off x="5212080" y="3026663"/>
            <a:ext cx="5973775" cy="658368"/>
          </a:xfrm>
          <a:prstGeom prst="roundRect">
            <a:avLst>
              <a:gd name="adj" fmla="val 27879"/>
            </a:avLst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961683-5297-F974-91D1-D75B406E94AF}"/>
              </a:ext>
            </a:extLst>
          </p:cNvPr>
          <p:cNvSpPr txBox="1"/>
          <p:nvPr/>
        </p:nvSpPr>
        <p:spPr>
          <a:xfrm>
            <a:off x="5394960" y="3099815"/>
            <a:ext cx="5608015" cy="5120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Temporal Trends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Track incident volumes over time with moving averages, seasonality detection, and historical comparisons.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0628D3C-E334-F253-66FB-3145757264FD}"/>
              </a:ext>
            </a:extLst>
          </p:cNvPr>
          <p:cNvSpPr/>
          <p:nvPr/>
        </p:nvSpPr>
        <p:spPr>
          <a:xfrm>
            <a:off x="5212080" y="3776471"/>
            <a:ext cx="5973775" cy="658368"/>
          </a:xfrm>
          <a:prstGeom prst="roundRect">
            <a:avLst>
              <a:gd name="adj" fmla="val 29326"/>
            </a:avLst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313F76-1817-AC1A-0A51-2593661E8718}"/>
              </a:ext>
            </a:extLst>
          </p:cNvPr>
          <p:cNvSpPr txBox="1"/>
          <p:nvPr/>
        </p:nvSpPr>
        <p:spPr>
          <a:xfrm>
            <a:off x="5394960" y="3849623"/>
            <a:ext cx="5608015" cy="5120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Sector &amp; Attack Insights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Compare incident volumes, severity distributions, and predominant attack categories across critical sectors.</a:t>
            </a:r>
          </a:p>
        </p:txBody>
      </p:sp>
    </p:spTree>
    <p:extLst>
      <p:ext uri="{BB962C8B-B14F-4D97-AF65-F5344CB8AC3E}">
        <p14:creationId xmlns:p14="http://schemas.microsoft.com/office/powerpoint/2010/main" val="9348552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E9DCD-3D24-86C5-C439-816CABA49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50A272-532A-09CE-A3FB-829FDF4A141D}"/>
              </a:ext>
            </a:extLst>
          </p:cNvPr>
          <p:cNvSpPr txBox="1"/>
          <p:nvPr/>
        </p:nvSpPr>
        <p:spPr>
          <a:xfrm>
            <a:off x="731520" y="758952"/>
            <a:ext cx="10728655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How Data Becomes Insight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A400D2-081F-336C-2FAE-C9F0396A2B08}"/>
              </a:ext>
            </a:extLst>
          </p:cNvPr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Standardized incident records flow through analytics to reveal patterns, context, and action.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4EB0B06-F513-6FF5-7A7E-2B9DE8F5111C}"/>
              </a:ext>
            </a:extLst>
          </p:cNvPr>
          <p:cNvSpPr/>
          <p:nvPr/>
        </p:nvSpPr>
        <p:spPr>
          <a:xfrm>
            <a:off x="731520" y="1691640"/>
            <a:ext cx="3840480" cy="4389120"/>
          </a:xfrm>
          <a:prstGeom prst="roundRect">
            <a:avLst>
              <a:gd name="adj" fmla="val 7614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53EFE4-C216-F7D4-59B0-EEE8203AE415}"/>
              </a:ext>
            </a:extLst>
          </p:cNvPr>
          <p:cNvSpPr txBox="1"/>
          <p:nvPr/>
        </p:nvSpPr>
        <p:spPr>
          <a:xfrm>
            <a:off x="1005840" y="2011680"/>
            <a:ext cx="3291840" cy="34394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rPr sz="2000" dirty="0"/>
              <a:t>DATA MATURATION STAGES</a:t>
            </a:r>
          </a:p>
          <a:p>
            <a:pPr>
              <a:spcBef>
                <a:spcPts val="1400"/>
              </a:spcBef>
              <a:defRPr sz="900" b="1">
                <a:solidFill>
                  <a:srgbClr val="2563EB"/>
                </a:solidFill>
                <a:latin typeface="Segoe UI"/>
              </a:defRPr>
            </a:pPr>
            <a:r>
              <a:rPr sz="1400" dirty="0"/>
              <a:t>STAGE 1</a:t>
            </a:r>
            <a:r>
              <a:rPr lang="en-US" sz="1400" dirty="0"/>
              <a:t> - </a:t>
            </a:r>
            <a:r>
              <a:rPr lang="en-IN" sz="1400" dirty="0"/>
              <a:t>Standardized Incident Records</a:t>
            </a:r>
          </a:p>
          <a:p>
            <a:pPr>
              <a:spcBef>
                <a:spcPts val="200"/>
              </a:spcBef>
              <a:defRPr sz="1050">
                <a:solidFill>
                  <a:srgbClr val="475569"/>
                </a:solidFill>
                <a:latin typeface="Segoe UI"/>
              </a:defRPr>
            </a:pPr>
            <a:r>
              <a:rPr dirty="0"/>
              <a:t>Cleaned raw records parsed across feeds with unified temporal, geographic, and attack-type attributes.</a:t>
            </a:r>
          </a:p>
          <a:p>
            <a:pPr>
              <a:spcBef>
                <a:spcPts val="1400"/>
              </a:spcBef>
              <a:defRPr sz="900" b="1">
                <a:solidFill>
                  <a:srgbClr val="2563EB"/>
                </a:solidFill>
                <a:latin typeface="Segoe UI"/>
              </a:defRPr>
            </a:pPr>
            <a:r>
              <a:rPr sz="1400" dirty="0"/>
              <a:t>STAGE 2</a:t>
            </a:r>
            <a:r>
              <a:rPr lang="en-US" sz="1400" dirty="0"/>
              <a:t> - </a:t>
            </a:r>
            <a:r>
              <a:rPr sz="1400" dirty="0"/>
              <a:t>Aggregated &amp; Normalized Data</a:t>
            </a:r>
          </a:p>
          <a:p>
            <a:pPr>
              <a:spcBef>
                <a:spcPts val="200"/>
              </a:spcBef>
              <a:defRPr sz="1050">
                <a:solidFill>
                  <a:srgbClr val="475569"/>
                </a:solidFill>
                <a:latin typeface="Segoe UI"/>
              </a:defRPr>
            </a:pPr>
            <a:r>
              <a:rPr dirty="0"/>
              <a:t>Sector-level groupings, time-series binning, and severity normalizations structured for analytical modeling.</a:t>
            </a:r>
          </a:p>
          <a:p>
            <a:pPr>
              <a:spcBef>
                <a:spcPts val="1400"/>
              </a:spcBef>
              <a:defRPr sz="900" b="1">
                <a:solidFill>
                  <a:srgbClr val="2563EB"/>
                </a:solidFill>
                <a:latin typeface="Segoe UI"/>
              </a:defRPr>
            </a:pPr>
            <a:r>
              <a:rPr sz="1400" dirty="0"/>
              <a:t>STAGE 3</a:t>
            </a:r>
            <a:r>
              <a:rPr lang="en-US" sz="1400" dirty="0"/>
              <a:t> - </a:t>
            </a:r>
            <a:r>
              <a:rPr sz="1400" dirty="0"/>
              <a:t>Analytics Engine &amp; Models</a:t>
            </a:r>
          </a:p>
          <a:p>
            <a:pPr>
              <a:spcBef>
                <a:spcPts val="200"/>
              </a:spcBef>
              <a:defRPr sz="1050">
                <a:solidFill>
                  <a:srgbClr val="475569"/>
                </a:solidFill>
                <a:latin typeface="Segoe UI"/>
              </a:defRPr>
            </a:pPr>
            <a:r>
              <a:rPr dirty="0"/>
              <a:t>Mathematical computation of weighted risk indices, rolling trendlines, and anomaly detection algorithms.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1202327-6ABA-455B-004E-67C5AB5BEB3E}"/>
              </a:ext>
            </a:extLst>
          </p:cNvPr>
          <p:cNvSpPr/>
          <p:nvPr/>
        </p:nvSpPr>
        <p:spPr>
          <a:xfrm>
            <a:off x="4937760" y="1691640"/>
            <a:ext cx="6522415" cy="4389120"/>
          </a:xfrm>
          <a:prstGeom prst="roundRect">
            <a:avLst>
              <a:gd name="adj" fmla="val 7118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B32DCB-7A85-9492-CE7A-47646E35EB60}"/>
              </a:ext>
            </a:extLst>
          </p:cNvPr>
          <p:cNvSpPr txBox="1"/>
          <p:nvPr/>
        </p:nvSpPr>
        <p:spPr>
          <a:xfrm>
            <a:off x="5212080" y="2011680"/>
            <a:ext cx="597377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ANALYTICAL OUTPUTS &amp; DASHBOARD CAPABILITIES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B962F16-51FD-D41C-D5E0-012302071B6F}"/>
              </a:ext>
            </a:extLst>
          </p:cNvPr>
          <p:cNvSpPr/>
          <p:nvPr/>
        </p:nvSpPr>
        <p:spPr>
          <a:xfrm>
            <a:off x="5212080" y="2276855"/>
            <a:ext cx="5973775" cy="658368"/>
          </a:xfrm>
          <a:prstGeom prst="roundRect">
            <a:avLst>
              <a:gd name="adj" fmla="val 30773"/>
            </a:avLst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4A5B33-7459-B7B7-BA41-05C49D1FB27B}"/>
              </a:ext>
            </a:extLst>
          </p:cNvPr>
          <p:cNvSpPr txBox="1"/>
          <p:nvPr/>
        </p:nvSpPr>
        <p:spPr>
          <a:xfrm>
            <a:off x="5394960" y="2350007"/>
            <a:ext cx="5608015" cy="5120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KPI Dashboards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rPr dirty="0"/>
              <a:t>Monitor key high-level indicators and explore granular incident records with real-time dynamic filtering.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77072A9-C53D-59DD-74F0-0BBE5BDF016E}"/>
              </a:ext>
            </a:extLst>
          </p:cNvPr>
          <p:cNvSpPr/>
          <p:nvPr/>
        </p:nvSpPr>
        <p:spPr>
          <a:xfrm>
            <a:off x="5212080" y="3026663"/>
            <a:ext cx="5973775" cy="658368"/>
          </a:xfrm>
          <a:prstGeom prst="roundRect">
            <a:avLst>
              <a:gd name="adj" fmla="val 27879"/>
            </a:avLst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3604B5-EE60-0F23-AA48-33A58ED6E5F8}"/>
              </a:ext>
            </a:extLst>
          </p:cNvPr>
          <p:cNvSpPr txBox="1"/>
          <p:nvPr/>
        </p:nvSpPr>
        <p:spPr>
          <a:xfrm>
            <a:off x="5394960" y="3099815"/>
            <a:ext cx="5608015" cy="5120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Temporal Trends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Track incident volumes over time with moving averages, seasonality detection, and historical comparisons.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5149A58-51C5-D8A9-AC0E-9C9651151093}"/>
              </a:ext>
            </a:extLst>
          </p:cNvPr>
          <p:cNvSpPr/>
          <p:nvPr/>
        </p:nvSpPr>
        <p:spPr>
          <a:xfrm>
            <a:off x="5212080" y="3776471"/>
            <a:ext cx="5973775" cy="658368"/>
          </a:xfrm>
          <a:prstGeom prst="roundRect">
            <a:avLst>
              <a:gd name="adj" fmla="val 29326"/>
            </a:avLst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76B2A8-D614-0D1B-2912-F03CC2A582C5}"/>
              </a:ext>
            </a:extLst>
          </p:cNvPr>
          <p:cNvSpPr txBox="1"/>
          <p:nvPr/>
        </p:nvSpPr>
        <p:spPr>
          <a:xfrm>
            <a:off x="5394960" y="3849623"/>
            <a:ext cx="5608015" cy="5120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Sector &amp; Attack Insights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Compare incident volumes, severity distributions, and predominant attack categories across critical sectors.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3CC498C-ECE6-830F-A5BD-2B25ED8E617C}"/>
              </a:ext>
            </a:extLst>
          </p:cNvPr>
          <p:cNvSpPr/>
          <p:nvPr/>
        </p:nvSpPr>
        <p:spPr>
          <a:xfrm>
            <a:off x="5212080" y="4526279"/>
            <a:ext cx="5973775" cy="658368"/>
          </a:xfrm>
          <a:prstGeom prst="roundRect">
            <a:avLst>
              <a:gd name="adj" fmla="val 26071"/>
            </a:avLst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7A1A75-D748-933C-2512-D18845A377C5}"/>
              </a:ext>
            </a:extLst>
          </p:cNvPr>
          <p:cNvSpPr txBox="1"/>
          <p:nvPr/>
        </p:nvSpPr>
        <p:spPr>
          <a:xfrm>
            <a:off x="5394960" y="4599431"/>
            <a:ext cx="5608015" cy="5120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Geographic Summaries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Understand national and regional incident patterns by geographical location and jurisdictional boundaries.</a:t>
            </a:r>
          </a:p>
        </p:txBody>
      </p:sp>
    </p:spTree>
    <p:extLst>
      <p:ext uri="{BB962C8B-B14F-4D97-AF65-F5344CB8AC3E}">
        <p14:creationId xmlns:p14="http://schemas.microsoft.com/office/powerpoint/2010/main" val="5941430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D153E-37A1-238A-842D-14D2E8715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93F00F-2AA5-141C-4FDA-8E9D7B984348}"/>
              </a:ext>
            </a:extLst>
          </p:cNvPr>
          <p:cNvSpPr txBox="1"/>
          <p:nvPr/>
        </p:nvSpPr>
        <p:spPr>
          <a:xfrm>
            <a:off x="731520" y="758952"/>
            <a:ext cx="10728655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How Data Becomes Insight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82A778-5F38-6E7D-7A3D-A98E437424B4}"/>
              </a:ext>
            </a:extLst>
          </p:cNvPr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Standardized incident records flow through analytics to reveal patterns, context, and action.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4F4D973-57CF-5E0B-90C8-38FAB8007A61}"/>
              </a:ext>
            </a:extLst>
          </p:cNvPr>
          <p:cNvSpPr/>
          <p:nvPr/>
        </p:nvSpPr>
        <p:spPr>
          <a:xfrm>
            <a:off x="731520" y="1691640"/>
            <a:ext cx="3840480" cy="4389120"/>
          </a:xfrm>
          <a:prstGeom prst="roundRect">
            <a:avLst>
              <a:gd name="adj" fmla="val 7614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2CE486-D9E4-DB39-3EE7-6E819CA92D24}"/>
              </a:ext>
            </a:extLst>
          </p:cNvPr>
          <p:cNvSpPr txBox="1"/>
          <p:nvPr/>
        </p:nvSpPr>
        <p:spPr>
          <a:xfrm>
            <a:off x="1005840" y="2011680"/>
            <a:ext cx="3291840" cy="34394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rPr sz="2000" dirty="0"/>
              <a:t>DATA MATURATION STAGES</a:t>
            </a:r>
          </a:p>
          <a:p>
            <a:pPr>
              <a:spcBef>
                <a:spcPts val="1400"/>
              </a:spcBef>
              <a:defRPr sz="900" b="1">
                <a:solidFill>
                  <a:srgbClr val="2563EB"/>
                </a:solidFill>
                <a:latin typeface="Segoe UI"/>
              </a:defRPr>
            </a:pPr>
            <a:r>
              <a:rPr sz="1400" dirty="0"/>
              <a:t>STAGE 1</a:t>
            </a:r>
            <a:r>
              <a:rPr lang="en-US" sz="1400" dirty="0"/>
              <a:t> - </a:t>
            </a:r>
            <a:r>
              <a:rPr lang="en-IN" sz="1400" dirty="0"/>
              <a:t>Standardized Incident Records</a:t>
            </a:r>
          </a:p>
          <a:p>
            <a:pPr>
              <a:spcBef>
                <a:spcPts val="200"/>
              </a:spcBef>
              <a:defRPr sz="1050">
                <a:solidFill>
                  <a:srgbClr val="475569"/>
                </a:solidFill>
                <a:latin typeface="Segoe UI"/>
              </a:defRPr>
            </a:pPr>
            <a:r>
              <a:rPr dirty="0"/>
              <a:t>Cleaned raw records parsed across feeds with unified temporal, geographic, and attack-type attributes.</a:t>
            </a:r>
          </a:p>
          <a:p>
            <a:pPr>
              <a:spcBef>
                <a:spcPts val="1400"/>
              </a:spcBef>
              <a:defRPr sz="900" b="1">
                <a:solidFill>
                  <a:srgbClr val="2563EB"/>
                </a:solidFill>
                <a:latin typeface="Segoe UI"/>
              </a:defRPr>
            </a:pPr>
            <a:r>
              <a:rPr sz="1400" dirty="0"/>
              <a:t>STAGE 2</a:t>
            </a:r>
            <a:r>
              <a:rPr lang="en-US" sz="1400" dirty="0"/>
              <a:t> - </a:t>
            </a:r>
            <a:r>
              <a:rPr sz="1400" dirty="0"/>
              <a:t>Aggregated &amp; Normalized Data</a:t>
            </a:r>
          </a:p>
          <a:p>
            <a:pPr>
              <a:spcBef>
                <a:spcPts val="200"/>
              </a:spcBef>
              <a:defRPr sz="1050">
                <a:solidFill>
                  <a:srgbClr val="475569"/>
                </a:solidFill>
                <a:latin typeface="Segoe UI"/>
              </a:defRPr>
            </a:pPr>
            <a:r>
              <a:rPr dirty="0"/>
              <a:t>Sector-level groupings, time-series binning, and severity normalizations structured for analytical modeling.</a:t>
            </a:r>
          </a:p>
          <a:p>
            <a:pPr>
              <a:spcBef>
                <a:spcPts val="1400"/>
              </a:spcBef>
              <a:defRPr sz="900" b="1">
                <a:solidFill>
                  <a:srgbClr val="2563EB"/>
                </a:solidFill>
                <a:latin typeface="Segoe UI"/>
              </a:defRPr>
            </a:pPr>
            <a:r>
              <a:rPr sz="1400" dirty="0"/>
              <a:t>STAGE 3</a:t>
            </a:r>
            <a:r>
              <a:rPr lang="en-US" sz="1400" dirty="0"/>
              <a:t> - </a:t>
            </a:r>
            <a:r>
              <a:rPr sz="1400" dirty="0"/>
              <a:t>Analytics Engine &amp; Models</a:t>
            </a:r>
          </a:p>
          <a:p>
            <a:pPr>
              <a:spcBef>
                <a:spcPts val="200"/>
              </a:spcBef>
              <a:defRPr sz="1050">
                <a:solidFill>
                  <a:srgbClr val="475569"/>
                </a:solidFill>
                <a:latin typeface="Segoe UI"/>
              </a:defRPr>
            </a:pPr>
            <a:r>
              <a:rPr dirty="0"/>
              <a:t>Mathematical computation of weighted risk indices, rolling trendlines, and anomaly detection algorithms.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9805DF6-5DEB-6CAD-2C28-CB4542737245}"/>
              </a:ext>
            </a:extLst>
          </p:cNvPr>
          <p:cNvSpPr/>
          <p:nvPr/>
        </p:nvSpPr>
        <p:spPr>
          <a:xfrm>
            <a:off x="4937760" y="1691640"/>
            <a:ext cx="6522415" cy="4389120"/>
          </a:xfrm>
          <a:prstGeom prst="roundRect">
            <a:avLst>
              <a:gd name="adj" fmla="val 7118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B34D4C-279E-FB0F-F29F-8F80C7BC93FE}"/>
              </a:ext>
            </a:extLst>
          </p:cNvPr>
          <p:cNvSpPr txBox="1"/>
          <p:nvPr/>
        </p:nvSpPr>
        <p:spPr>
          <a:xfrm>
            <a:off x="5212080" y="2011680"/>
            <a:ext cx="597377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ANALYTICAL OUTPUTS &amp; DASHBOARD CAPABILITIES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ABBF65D-2FCF-771E-0592-B6635F642F7F}"/>
              </a:ext>
            </a:extLst>
          </p:cNvPr>
          <p:cNvSpPr/>
          <p:nvPr/>
        </p:nvSpPr>
        <p:spPr>
          <a:xfrm>
            <a:off x="5212080" y="2276855"/>
            <a:ext cx="5973775" cy="658368"/>
          </a:xfrm>
          <a:prstGeom prst="roundRect">
            <a:avLst>
              <a:gd name="adj" fmla="val 30773"/>
            </a:avLst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2ADD19-527F-B752-803E-B2A7003C2303}"/>
              </a:ext>
            </a:extLst>
          </p:cNvPr>
          <p:cNvSpPr txBox="1"/>
          <p:nvPr/>
        </p:nvSpPr>
        <p:spPr>
          <a:xfrm>
            <a:off x="5394960" y="2350007"/>
            <a:ext cx="5608015" cy="5120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KPI Dashboards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rPr dirty="0"/>
              <a:t>Monitor key high-level indicators and explore granular incident records with real-time dynamic filtering.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597F451-BF2F-69ED-51D4-F91BA8B7ACAA}"/>
              </a:ext>
            </a:extLst>
          </p:cNvPr>
          <p:cNvSpPr/>
          <p:nvPr/>
        </p:nvSpPr>
        <p:spPr>
          <a:xfrm>
            <a:off x="5212080" y="3026663"/>
            <a:ext cx="5973775" cy="658368"/>
          </a:xfrm>
          <a:prstGeom prst="roundRect">
            <a:avLst>
              <a:gd name="adj" fmla="val 27879"/>
            </a:avLst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15272E-CFBF-BA9F-D37D-0C4738B3CE5D}"/>
              </a:ext>
            </a:extLst>
          </p:cNvPr>
          <p:cNvSpPr txBox="1"/>
          <p:nvPr/>
        </p:nvSpPr>
        <p:spPr>
          <a:xfrm>
            <a:off x="5394960" y="3099815"/>
            <a:ext cx="5608015" cy="5120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Temporal Trends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Track incident volumes over time with moving averages, seasonality detection, and historical comparisons.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B4A0DE8-4F0C-B268-E400-8DDD41809F4E}"/>
              </a:ext>
            </a:extLst>
          </p:cNvPr>
          <p:cNvSpPr/>
          <p:nvPr/>
        </p:nvSpPr>
        <p:spPr>
          <a:xfrm>
            <a:off x="5212080" y="3776471"/>
            <a:ext cx="5973775" cy="658368"/>
          </a:xfrm>
          <a:prstGeom prst="roundRect">
            <a:avLst>
              <a:gd name="adj" fmla="val 29326"/>
            </a:avLst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DC6036-07AF-D10B-5B3A-3A99E86698C2}"/>
              </a:ext>
            </a:extLst>
          </p:cNvPr>
          <p:cNvSpPr txBox="1"/>
          <p:nvPr/>
        </p:nvSpPr>
        <p:spPr>
          <a:xfrm>
            <a:off x="5394960" y="3849623"/>
            <a:ext cx="5608015" cy="5120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Sector &amp; Attack Insights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Compare incident volumes, severity distributions, and predominant attack categories across critical sectors.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048CC01-643B-D203-03F2-FA6B70E3057D}"/>
              </a:ext>
            </a:extLst>
          </p:cNvPr>
          <p:cNvSpPr/>
          <p:nvPr/>
        </p:nvSpPr>
        <p:spPr>
          <a:xfrm>
            <a:off x="5212080" y="4526279"/>
            <a:ext cx="5973775" cy="658368"/>
          </a:xfrm>
          <a:prstGeom prst="roundRect">
            <a:avLst>
              <a:gd name="adj" fmla="val 26071"/>
            </a:avLst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365C8E-5FF5-359E-74F8-AF941FD54B6A}"/>
              </a:ext>
            </a:extLst>
          </p:cNvPr>
          <p:cNvSpPr txBox="1"/>
          <p:nvPr/>
        </p:nvSpPr>
        <p:spPr>
          <a:xfrm>
            <a:off x="5394960" y="4599431"/>
            <a:ext cx="5608015" cy="5120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Geographic Summaries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Understand national and regional incident patterns by geographical location and jurisdictional boundaries.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098B3F80-49B6-D6C4-186D-B58F80674A43}"/>
              </a:ext>
            </a:extLst>
          </p:cNvPr>
          <p:cNvSpPr/>
          <p:nvPr/>
        </p:nvSpPr>
        <p:spPr>
          <a:xfrm>
            <a:off x="5212080" y="5276087"/>
            <a:ext cx="5973775" cy="658368"/>
          </a:xfrm>
          <a:prstGeom prst="roundRect">
            <a:avLst>
              <a:gd name="adj" fmla="val 28241"/>
            </a:avLst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8479B00-E9C8-FA07-00B9-4489952CA5E3}"/>
              </a:ext>
            </a:extLst>
          </p:cNvPr>
          <p:cNvSpPr txBox="1"/>
          <p:nvPr/>
        </p:nvSpPr>
        <p:spPr>
          <a:xfrm>
            <a:off x="5394960" y="5349239"/>
            <a:ext cx="5608015" cy="5120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KEV Catalog &amp; Export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Search the CISA Known Exploited Vulnerabilities catalog and export tailored datasets for downstream research.</a:t>
            </a:r>
          </a:p>
        </p:txBody>
      </p:sp>
    </p:spTree>
    <p:extLst>
      <p:ext uri="{BB962C8B-B14F-4D97-AF65-F5344CB8AC3E}">
        <p14:creationId xmlns:p14="http://schemas.microsoft.com/office/powerpoint/2010/main" val="7081591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758952"/>
            <a:ext cx="10728655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National Cyber Risk Index (NCRI)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An explainable 0–100 composite score compares observed risk across sectors using four weighted dimensions.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2194560" cy="278892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965960"/>
            <a:ext cx="1516867" cy="15183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defRPr sz="3600" b="1">
                <a:solidFill>
                  <a:srgbClr val="1E3A8A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NCRI</a:t>
            </a:r>
          </a:p>
          <a:p>
            <a:pPr>
              <a:defRPr sz="1600" b="1">
                <a:solidFill>
                  <a:srgbClr val="2563EB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0–100 Score</a:t>
            </a:r>
          </a:p>
          <a:p>
            <a:pPr>
              <a:spcBef>
                <a:spcPts val="800"/>
              </a:spcBef>
              <a:defRPr sz="1000">
                <a:solidFill>
                  <a:srgbClr val="475569"/>
                </a:solidFill>
                <a:latin typeface="Segoe UI"/>
              </a:defRPr>
            </a:pPr>
            <a:r>
              <a:rPr dirty="0"/>
              <a:t>Sector-level comparative prioritization benchmark calculated deterministically.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848AC-8689-E0C8-17A3-58E9657D8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15770A1-3F8E-1988-E8F9-7491FC5A3A02}"/>
              </a:ext>
            </a:extLst>
          </p:cNvPr>
          <p:cNvSpPr txBox="1"/>
          <p:nvPr/>
        </p:nvSpPr>
        <p:spPr>
          <a:xfrm>
            <a:off x="731520" y="758952"/>
            <a:ext cx="10728655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National Cyber Risk Index (NCRI)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B30E48-6D69-88D0-0279-9AC571EEB430}"/>
              </a:ext>
            </a:extLst>
          </p:cNvPr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An explainable 0–100 composite score compares observed risk across sectors using four weighted dimensions.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03B0A2A-516B-E493-E701-7D228ABA405C}"/>
              </a:ext>
            </a:extLst>
          </p:cNvPr>
          <p:cNvSpPr/>
          <p:nvPr/>
        </p:nvSpPr>
        <p:spPr>
          <a:xfrm>
            <a:off x="731520" y="1691640"/>
            <a:ext cx="2194560" cy="278892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F96AC3-56EA-373A-83B1-D31F69431770}"/>
              </a:ext>
            </a:extLst>
          </p:cNvPr>
          <p:cNvSpPr txBox="1"/>
          <p:nvPr/>
        </p:nvSpPr>
        <p:spPr>
          <a:xfrm>
            <a:off x="1051560" y="1965960"/>
            <a:ext cx="1516867" cy="15183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defRPr sz="3600" b="1">
                <a:solidFill>
                  <a:srgbClr val="1E3A8A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NCRI</a:t>
            </a:r>
          </a:p>
          <a:p>
            <a:pPr>
              <a:defRPr sz="1600" b="1">
                <a:solidFill>
                  <a:srgbClr val="2563EB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0–100 Score</a:t>
            </a:r>
          </a:p>
          <a:p>
            <a:pPr>
              <a:spcBef>
                <a:spcPts val="800"/>
              </a:spcBef>
              <a:defRPr sz="1000">
                <a:solidFill>
                  <a:srgbClr val="475569"/>
                </a:solidFill>
                <a:latin typeface="Segoe UI"/>
              </a:defRPr>
            </a:pPr>
            <a:r>
              <a:rPr dirty="0"/>
              <a:t>Sector-level comparative prioritization benchmark calculated deterministically.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3D4FF64-BDDB-F97E-8324-56D7482EEE3C}"/>
              </a:ext>
            </a:extLst>
          </p:cNvPr>
          <p:cNvSpPr/>
          <p:nvPr/>
        </p:nvSpPr>
        <p:spPr>
          <a:xfrm>
            <a:off x="3200400" y="1691640"/>
            <a:ext cx="1965960" cy="278892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3DFB40-22F3-37FB-4303-37A5C3981EDC}"/>
              </a:ext>
            </a:extLst>
          </p:cNvPr>
          <p:cNvSpPr txBox="1"/>
          <p:nvPr/>
        </p:nvSpPr>
        <p:spPr>
          <a:xfrm>
            <a:off x="3464433" y="1874520"/>
            <a:ext cx="1403101" cy="1682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defRPr sz="3000" b="1">
                <a:solidFill>
                  <a:srgbClr val="0F172A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0.35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 b="1">
                <a:solidFill>
                  <a:srgbClr val="2563EB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Frequency</a:t>
            </a:r>
          </a:p>
          <a:p>
            <a:pPr>
              <a:spcAft>
                <a:spcPts val="400"/>
              </a:spcAft>
              <a:defRPr sz="1000" b="1">
                <a:solidFill>
                  <a:srgbClr val="475569"/>
                </a:solidFill>
                <a:latin typeface="Segoe UI"/>
              </a:defRPr>
            </a:pPr>
            <a:r>
              <a:rPr dirty="0"/>
              <a:t>Log-scaled sector incident volume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rPr dirty="0"/>
              <a:t>Penalizes frequent attacks using non-linear log scaling to avoid skew from outlier events.</a:t>
            </a:r>
          </a:p>
        </p:txBody>
      </p:sp>
    </p:spTree>
    <p:extLst>
      <p:ext uri="{BB962C8B-B14F-4D97-AF65-F5344CB8AC3E}">
        <p14:creationId xmlns:p14="http://schemas.microsoft.com/office/powerpoint/2010/main" val="39211702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E771B-B0FA-0290-9ECC-971F6FBBB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8F6989-ED08-8BF4-B214-58C139C1139C}"/>
              </a:ext>
            </a:extLst>
          </p:cNvPr>
          <p:cNvSpPr txBox="1"/>
          <p:nvPr/>
        </p:nvSpPr>
        <p:spPr>
          <a:xfrm>
            <a:off x="731520" y="758952"/>
            <a:ext cx="10728655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National Cyber Risk Index (NCRI)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60623A-DD7A-43E0-8B81-EB2C6DF8838B}"/>
              </a:ext>
            </a:extLst>
          </p:cNvPr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An explainable 0–100 composite score compares observed risk across sectors using four weighted dimensions.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5CDDB7A-731E-9625-B681-52D9ABA24E93}"/>
              </a:ext>
            </a:extLst>
          </p:cNvPr>
          <p:cNvSpPr/>
          <p:nvPr/>
        </p:nvSpPr>
        <p:spPr>
          <a:xfrm>
            <a:off x="731520" y="1691640"/>
            <a:ext cx="2194560" cy="278892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DD52D4-279F-F0EE-47EC-D161FA7F766C}"/>
              </a:ext>
            </a:extLst>
          </p:cNvPr>
          <p:cNvSpPr txBox="1"/>
          <p:nvPr/>
        </p:nvSpPr>
        <p:spPr>
          <a:xfrm>
            <a:off x="1051560" y="1965960"/>
            <a:ext cx="1516867" cy="15183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defRPr sz="3600" b="1">
                <a:solidFill>
                  <a:srgbClr val="1E3A8A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NCRI</a:t>
            </a:r>
          </a:p>
          <a:p>
            <a:pPr>
              <a:defRPr sz="1600" b="1">
                <a:solidFill>
                  <a:srgbClr val="2563EB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0–100 Score</a:t>
            </a:r>
          </a:p>
          <a:p>
            <a:pPr>
              <a:spcBef>
                <a:spcPts val="800"/>
              </a:spcBef>
              <a:defRPr sz="1000">
                <a:solidFill>
                  <a:srgbClr val="475569"/>
                </a:solidFill>
                <a:latin typeface="Segoe UI"/>
              </a:defRPr>
            </a:pPr>
            <a:r>
              <a:rPr dirty="0"/>
              <a:t>Sector-level comparative prioritization benchmark calculated deterministically.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CECFCF6-0CB0-666F-1F3D-20952AB8D2BC}"/>
              </a:ext>
            </a:extLst>
          </p:cNvPr>
          <p:cNvSpPr/>
          <p:nvPr/>
        </p:nvSpPr>
        <p:spPr>
          <a:xfrm>
            <a:off x="3200400" y="1691640"/>
            <a:ext cx="1965960" cy="278892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B72948-DAC5-5FA8-BA4F-C5F6D55C2E06}"/>
              </a:ext>
            </a:extLst>
          </p:cNvPr>
          <p:cNvSpPr txBox="1"/>
          <p:nvPr/>
        </p:nvSpPr>
        <p:spPr>
          <a:xfrm>
            <a:off x="3464433" y="1874520"/>
            <a:ext cx="1403101" cy="1682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defRPr sz="3000" b="1">
                <a:solidFill>
                  <a:srgbClr val="0F172A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0.35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 b="1">
                <a:solidFill>
                  <a:srgbClr val="2563EB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Frequency</a:t>
            </a:r>
          </a:p>
          <a:p>
            <a:pPr>
              <a:spcAft>
                <a:spcPts val="400"/>
              </a:spcAft>
              <a:defRPr sz="1000" b="1">
                <a:solidFill>
                  <a:srgbClr val="475569"/>
                </a:solidFill>
                <a:latin typeface="Segoe UI"/>
              </a:defRPr>
            </a:pPr>
            <a:r>
              <a:rPr dirty="0"/>
              <a:t>Log-scaled sector incident volume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rPr dirty="0"/>
              <a:t>Penalizes frequent attacks using non-linear log scaling to avoid skew from outlier events.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CDFAF07-1F98-E8FE-9FFC-44C3492ABC23}"/>
              </a:ext>
            </a:extLst>
          </p:cNvPr>
          <p:cNvSpPr/>
          <p:nvPr/>
        </p:nvSpPr>
        <p:spPr>
          <a:xfrm>
            <a:off x="5349240" y="1691640"/>
            <a:ext cx="1965960" cy="278892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6B5D3E-7340-78A3-F3A8-3D256DBBC031}"/>
              </a:ext>
            </a:extLst>
          </p:cNvPr>
          <p:cNvSpPr txBox="1"/>
          <p:nvPr/>
        </p:nvSpPr>
        <p:spPr>
          <a:xfrm>
            <a:off x="5613273" y="1874520"/>
            <a:ext cx="1403101" cy="18287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defRPr sz="3000" b="1">
                <a:solidFill>
                  <a:srgbClr val="0F172A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0.30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 b="1">
                <a:solidFill>
                  <a:srgbClr val="2563EB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Severity</a:t>
            </a:r>
          </a:p>
          <a:p>
            <a:pPr>
              <a:spcAft>
                <a:spcPts val="400"/>
              </a:spcAft>
              <a:defRPr sz="1000" b="1">
                <a:solidFill>
                  <a:srgbClr val="475569"/>
                </a:solidFill>
                <a:latin typeface="Segoe UI"/>
              </a:defRPr>
            </a:pPr>
            <a:r>
              <a:rPr dirty="0"/>
              <a:t>Normalized average severity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rPr dirty="0"/>
              <a:t>Calculates normalized impact score reflecting operational disruption and data breach consequences.</a:t>
            </a:r>
          </a:p>
        </p:txBody>
      </p:sp>
    </p:spTree>
    <p:extLst>
      <p:ext uri="{BB962C8B-B14F-4D97-AF65-F5344CB8AC3E}">
        <p14:creationId xmlns:p14="http://schemas.microsoft.com/office/powerpoint/2010/main" val="15171857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B509D-1F0F-3D6E-9127-5BC6A4FB1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95EE1A-95DD-3CD3-E720-9F277F999BD4}"/>
              </a:ext>
            </a:extLst>
          </p:cNvPr>
          <p:cNvSpPr txBox="1"/>
          <p:nvPr/>
        </p:nvSpPr>
        <p:spPr>
          <a:xfrm>
            <a:off x="731520" y="758952"/>
            <a:ext cx="10728655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National Cyber Risk Index (NCRI)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4F0C4D-2A8B-2408-082A-375F78156BCC}"/>
              </a:ext>
            </a:extLst>
          </p:cNvPr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An explainable 0–100 composite score compares observed risk across sectors using four weighted dimensions.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C711DB0-2DFB-9B32-3FA8-0EA3A57EBDEF}"/>
              </a:ext>
            </a:extLst>
          </p:cNvPr>
          <p:cNvSpPr/>
          <p:nvPr/>
        </p:nvSpPr>
        <p:spPr>
          <a:xfrm>
            <a:off x="731520" y="1691640"/>
            <a:ext cx="2194560" cy="278892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58812B-B541-F3FB-A545-F782A550265E}"/>
              </a:ext>
            </a:extLst>
          </p:cNvPr>
          <p:cNvSpPr txBox="1"/>
          <p:nvPr/>
        </p:nvSpPr>
        <p:spPr>
          <a:xfrm>
            <a:off x="1051560" y="1965960"/>
            <a:ext cx="1516867" cy="15183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defRPr sz="3600" b="1">
                <a:solidFill>
                  <a:srgbClr val="1E3A8A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NCRI</a:t>
            </a:r>
          </a:p>
          <a:p>
            <a:pPr>
              <a:defRPr sz="1600" b="1">
                <a:solidFill>
                  <a:srgbClr val="2563EB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0–100 Score</a:t>
            </a:r>
          </a:p>
          <a:p>
            <a:pPr>
              <a:spcBef>
                <a:spcPts val="800"/>
              </a:spcBef>
              <a:defRPr sz="1000">
                <a:solidFill>
                  <a:srgbClr val="475569"/>
                </a:solidFill>
                <a:latin typeface="Segoe UI"/>
              </a:defRPr>
            </a:pPr>
            <a:r>
              <a:rPr dirty="0"/>
              <a:t>Sector-level comparative prioritization benchmark calculated deterministically.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51CF5B0-B3B2-E20A-9B25-33989AA550C7}"/>
              </a:ext>
            </a:extLst>
          </p:cNvPr>
          <p:cNvSpPr/>
          <p:nvPr/>
        </p:nvSpPr>
        <p:spPr>
          <a:xfrm>
            <a:off x="3200400" y="1691640"/>
            <a:ext cx="1965960" cy="278892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696880-E4EB-3CE7-926A-A953F9126FD1}"/>
              </a:ext>
            </a:extLst>
          </p:cNvPr>
          <p:cNvSpPr txBox="1"/>
          <p:nvPr/>
        </p:nvSpPr>
        <p:spPr>
          <a:xfrm>
            <a:off x="3464433" y="1874520"/>
            <a:ext cx="1403101" cy="1682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defRPr sz="3000" b="1">
                <a:solidFill>
                  <a:srgbClr val="0F172A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0.35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 b="1">
                <a:solidFill>
                  <a:srgbClr val="2563EB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Frequency</a:t>
            </a:r>
          </a:p>
          <a:p>
            <a:pPr>
              <a:spcAft>
                <a:spcPts val="400"/>
              </a:spcAft>
              <a:defRPr sz="1000" b="1">
                <a:solidFill>
                  <a:srgbClr val="475569"/>
                </a:solidFill>
                <a:latin typeface="Segoe UI"/>
              </a:defRPr>
            </a:pPr>
            <a:r>
              <a:rPr dirty="0"/>
              <a:t>Log-scaled sector incident volume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rPr dirty="0"/>
              <a:t>Penalizes frequent attacks using non-linear log scaling to avoid skew from outlier events.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FA9BBBF-B586-5625-82AA-01EDBD3D96AB}"/>
              </a:ext>
            </a:extLst>
          </p:cNvPr>
          <p:cNvSpPr/>
          <p:nvPr/>
        </p:nvSpPr>
        <p:spPr>
          <a:xfrm>
            <a:off x="5349240" y="1691640"/>
            <a:ext cx="1965960" cy="278892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BF5FBC-2446-ABCB-5C80-8AB1C7ADBE52}"/>
              </a:ext>
            </a:extLst>
          </p:cNvPr>
          <p:cNvSpPr txBox="1"/>
          <p:nvPr/>
        </p:nvSpPr>
        <p:spPr>
          <a:xfrm>
            <a:off x="5613273" y="1874520"/>
            <a:ext cx="1403101" cy="18287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defRPr sz="3000" b="1">
                <a:solidFill>
                  <a:srgbClr val="0F172A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0.30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 b="1">
                <a:solidFill>
                  <a:srgbClr val="2563EB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Severity</a:t>
            </a:r>
          </a:p>
          <a:p>
            <a:pPr>
              <a:spcAft>
                <a:spcPts val="400"/>
              </a:spcAft>
              <a:defRPr sz="1000" b="1">
                <a:solidFill>
                  <a:srgbClr val="475569"/>
                </a:solidFill>
                <a:latin typeface="Segoe UI"/>
              </a:defRPr>
            </a:pPr>
            <a:r>
              <a:rPr dirty="0"/>
              <a:t>Normalized average severity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rPr dirty="0"/>
              <a:t>Calculates normalized impact score reflecting operational disruption and data breach consequences.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084B4A5-4A0A-6DC2-EE21-0A8A707373E3}"/>
              </a:ext>
            </a:extLst>
          </p:cNvPr>
          <p:cNvSpPr/>
          <p:nvPr/>
        </p:nvSpPr>
        <p:spPr>
          <a:xfrm>
            <a:off x="7498079" y="1691640"/>
            <a:ext cx="1965960" cy="278892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D6571F-EB08-7799-841C-25EB3DB8333A}"/>
              </a:ext>
            </a:extLst>
          </p:cNvPr>
          <p:cNvSpPr txBox="1"/>
          <p:nvPr/>
        </p:nvSpPr>
        <p:spPr>
          <a:xfrm>
            <a:off x="7762113" y="1874520"/>
            <a:ext cx="1403101" cy="1682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defRPr sz="3000" b="1">
                <a:solidFill>
                  <a:srgbClr val="0F172A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0.20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 b="1">
                <a:solidFill>
                  <a:srgbClr val="2563EB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Sector Criticality</a:t>
            </a:r>
          </a:p>
          <a:p>
            <a:pPr>
              <a:spcAft>
                <a:spcPts val="400"/>
              </a:spcAft>
              <a:defRPr sz="1000" b="1">
                <a:solidFill>
                  <a:srgbClr val="475569"/>
                </a:solidFill>
                <a:latin typeface="Segoe UI"/>
              </a:defRPr>
            </a:pPr>
            <a:r>
              <a:rPr dirty="0"/>
              <a:t>Fixed sector criticality assumptions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rPr dirty="0"/>
              <a:t>Encodes baseline national priority (e.g., energy, healthcare, and finance carry higher weights).</a:t>
            </a:r>
          </a:p>
        </p:txBody>
      </p:sp>
    </p:spTree>
    <p:extLst>
      <p:ext uri="{BB962C8B-B14F-4D97-AF65-F5344CB8AC3E}">
        <p14:creationId xmlns:p14="http://schemas.microsoft.com/office/powerpoint/2010/main" val="15413807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B3D6C-7422-4670-C982-54D2CE43B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A8C1CB-C9F2-CD46-49E3-BCA9DFFDE919}"/>
              </a:ext>
            </a:extLst>
          </p:cNvPr>
          <p:cNvSpPr txBox="1"/>
          <p:nvPr/>
        </p:nvSpPr>
        <p:spPr>
          <a:xfrm>
            <a:off x="731520" y="758952"/>
            <a:ext cx="10728655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National Cyber Risk Index (NCRI)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F46927-C9CF-F34A-BCB1-AD3C889EDBF1}"/>
              </a:ext>
            </a:extLst>
          </p:cNvPr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An explainable 0–100 composite score compares observed risk across sectors using four weighted dimensions.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2A36968-2B1F-C3C7-FB8E-3B15E8356DA3}"/>
              </a:ext>
            </a:extLst>
          </p:cNvPr>
          <p:cNvSpPr/>
          <p:nvPr/>
        </p:nvSpPr>
        <p:spPr>
          <a:xfrm>
            <a:off x="731520" y="1691640"/>
            <a:ext cx="2194560" cy="278892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AC9869-BF0E-A42E-3A22-9E3626D6B170}"/>
              </a:ext>
            </a:extLst>
          </p:cNvPr>
          <p:cNvSpPr txBox="1"/>
          <p:nvPr/>
        </p:nvSpPr>
        <p:spPr>
          <a:xfrm>
            <a:off x="1051560" y="1965960"/>
            <a:ext cx="1516867" cy="15183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defRPr sz="3600" b="1">
                <a:solidFill>
                  <a:srgbClr val="1E3A8A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NCRI</a:t>
            </a:r>
          </a:p>
          <a:p>
            <a:pPr>
              <a:defRPr sz="1600" b="1">
                <a:solidFill>
                  <a:srgbClr val="2563EB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0–100 Score</a:t>
            </a:r>
          </a:p>
          <a:p>
            <a:pPr>
              <a:spcBef>
                <a:spcPts val="800"/>
              </a:spcBef>
              <a:defRPr sz="1000">
                <a:solidFill>
                  <a:srgbClr val="475569"/>
                </a:solidFill>
                <a:latin typeface="Segoe UI"/>
              </a:defRPr>
            </a:pPr>
            <a:r>
              <a:rPr dirty="0"/>
              <a:t>Sector-level comparative prioritization benchmark calculated deterministically.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580C7A8-7833-7448-7FDE-4608327B8302}"/>
              </a:ext>
            </a:extLst>
          </p:cNvPr>
          <p:cNvSpPr/>
          <p:nvPr/>
        </p:nvSpPr>
        <p:spPr>
          <a:xfrm>
            <a:off x="3200400" y="1691640"/>
            <a:ext cx="1965960" cy="278892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AE8F92-9024-C64E-82F8-27769B7E4755}"/>
              </a:ext>
            </a:extLst>
          </p:cNvPr>
          <p:cNvSpPr txBox="1"/>
          <p:nvPr/>
        </p:nvSpPr>
        <p:spPr>
          <a:xfrm>
            <a:off x="3464433" y="1874520"/>
            <a:ext cx="1403101" cy="1682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defRPr sz="3000" b="1">
                <a:solidFill>
                  <a:srgbClr val="0F172A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0.35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 b="1">
                <a:solidFill>
                  <a:srgbClr val="2563EB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Frequency</a:t>
            </a:r>
          </a:p>
          <a:p>
            <a:pPr>
              <a:spcAft>
                <a:spcPts val="400"/>
              </a:spcAft>
              <a:defRPr sz="1000" b="1">
                <a:solidFill>
                  <a:srgbClr val="475569"/>
                </a:solidFill>
                <a:latin typeface="Segoe UI"/>
              </a:defRPr>
            </a:pPr>
            <a:r>
              <a:rPr dirty="0"/>
              <a:t>Log-scaled sector incident volume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rPr dirty="0"/>
              <a:t>Penalizes frequent attacks using non-linear log scaling to avoid skew from outlier events.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7A4901F-3A96-CD42-69AE-1A745A325899}"/>
              </a:ext>
            </a:extLst>
          </p:cNvPr>
          <p:cNvSpPr/>
          <p:nvPr/>
        </p:nvSpPr>
        <p:spPr>
          <a:xfrm>
            <a:off x="5349240" y="1691640"/>
            <a:ext cx="1965960" cy="278892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3DD949-4A5B-EEB8-62EE-D2607C00AEC8}"/>
              </a:ext>
            </a:extLst>
          </p:cNvPr>
          <p:cNvSpPr txBox="1"/>
          <p:nvPr/>
        </p:nvSpPr>
        <p:spPr>
          <a:xfrm>
            <a:off x="5613273" y="1874520"/>
            <a:ext cx="1403101" cy="18287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defRPr sz="3000" b="1">
                <a:solidFill>
                  <a:srgbClr val="0F172A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0.30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 b="1">
                <a:solidFill>
                  <a:srgbClr val="2563EB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Severity</a:t>
            </a:r>
          </a:p>
          <a:p>
            <a:pPr>
              <a:spcAft>
                <a:spcPts val="400"/>
              </a:spcAft>
              <a:defRPr sz="1000" b="1">
                <a:solidFill>
                  <a:srgbClr val="475569"/>
                </a:solidFill>
                <a:latin typeface="Segoe UI"/>
              </a:defRPr>
            </a:pPr>
            <a:r>
              <a:rPr dirty="0"/>
              <a:t>Normalized average severity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rPr dirty="0"/>
              <a:t>Calculates normalized impact score reflecting operational disruption and data breach consequences.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75CFA4C-EDF1-9826-3115-0BEAB5548338}"/>
              </a:ext>
            </a:extLst>
          </p:cNvPr>
          <p:cNvSpPr/>
          <p:nvPr/>
        </p:nvSpPr>
        <p:spPr>
          <a:xfrm>
            <a:off x="7498079" y="1691640"/>
            <a:ext cx="1965960" cy="278892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11220F-8E69-8595-9F80-A1F13FC7BB8E}"/>
              </a:ext>
            </a:extLst>
          </p:cNvPr>
          <p:cNvSpPr txBox="1"/>
          <p:nvPr/>
        </p:nvSpPr>
        <p:spPr>
          <a:xfrm>
            <a:off x="7762113" y="1874520"/>
            <a:ext cx="1403101" cy="1682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defRPr sz="3000" b="1">
                <a:solidFill>
                  <a:srgbClr val="0F172A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0.20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 b="1">
                <a:solidFill>
                  <a:srgbClr val="2563EB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Sector Criticality</a:t>
            </a:r>
          </a:p>
          <a:p>
            <a:pPr>
              <a:spcAft>
                <a:spcPts val="400"/>
              </a:spcAft>
              <a:defRPr sz="1000" b="1">
                <a:solidFill>
                  <a:srgbClr val="475569"/>
                </a:solidFill>
                <a:latin typeface="Segoe UI"/>
              </a:defRPr>
            </a:pPr>
            <a:r>
              <a:rPr dirty="0"/>
              <a:t>Fixed sector criticality assumptions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rPr dirty="0"/>
              <a:t>Encodes baseline national priority (e.g., energy, healthcare, and finance carry higher weights).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5CB39AE-C1CF-2E6B-D490-C8AC070D03CE}"/>
              </a:ext>
            </a:extLst>
          </p:cNvPr>
          <p:cNvSpPr/>
          <p:nvPr/>
        </p:nvSpPr>
        <p:spPr>
          <a:xfrm>
            <a:off x="9646920" y="1691640"/>
            <a:ext cx="1965960" cy="278892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29D507-660C-E0D7-15DF-4E97BDAF1A37}"/>
              </a:ext>
            </a:extLst>
          </p:cNvPr>
          <p:cNvSpPr txBox="1"/>
          <p:nvPr/>
        </p:nvSpPr>
        <p:spPr>
          <a:xfrm>
            <a:off x="9910953" y="1874520"/>
            <a:ext cx="1403101" cy="20287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defRPr sz="3000" b="1">
                <a:solidFill>
                  <a:srgbClr val="0F172A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0.15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 b="1">
                <a:solidFill>
                  <a:srgbClr val="2563EB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Exploitation Velocity</a:t>
            </a:r>
          </a:p>
          <a:p>
            <a:pPr>
              <a:spcAft>
                <a:spcPts val="400"/>
              </a:spcAft>
              <a:defRPr sz="1000" b="1">
                <a:solidFill>
                  <a:srgbClr val="475569"/>
                </a:solidFill>
                <a:latin typeface="Segoe UI"/>
              </a:defRPr>
            </a:pPr>
            <a:r>
              <a:rPr dirty="0"/>
              <a:t>Share of high-impact attack categories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rPr dirty="0"/>
              <a:t>Measures the proportion of weaponized, fast-spreading zero-day or ransomware attack classes.</a:t>
            </a:r>
          </a:p>
        </p:txBody>
      </p:sp>
    </p:spTree>
    <p:extLst>
      <p:ext uri="{BB962C8B-B14F-4D97-AF65-F5344CB8AC3E}">
        <p14:creationId xmlns:p14="http://schemas.microsoft.com/office/powerpoint/2010/main" val="26596747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81039-6F78-8B07-B8BF-D04B1B942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053C63-730C-BD43-90A5-E402EF374D32}"/>
              </a:ext>
            </a:extLst>
          </p:cNvPr>
          <p:cNvSpPr txBox="1"/>
          <p:nvPr/>
        </p:nvSpPr>
        <p:spPr>
          <a:xfrm>
            <a:off x="731520" y="758952"/>
            <a:ext cx="10728655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National Cyber Risk Index (NCRI)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901DBD-14C5-916D-9052-0C78371B8CE7}"/>
              </a:ext>
            </a:extLst>
          </p:cNvPr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An explainable 0–100 composite score compares observed risk across sectors using four weighted dimensions.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E03B8C8-3DF7-2C50-A103-C67FDA9A9B15}"/>
              </a:ext>
            </a:extLst>
          </p:cNvPr>
          <p:cNvSpPr/>
          <p:nvPr/>
        </p:nvSpPr>
        <p:spPr>
          <a:xfrm>
            <a:off x="731520" y="1691640"/>
            <a:ext cx="2194560" cy="278892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CA50B4-CD1B-5051-17D2-ED9E5CC4F4F9}"/>
              </a:ext>
            </a:extLst>
          </p:cNvPr>
          <p:cNvSpPr txBox="1"/>
          <p:nvPr/>
        </p:nvSpPr>
        <p:spPr>
          <a:xfrm>
            <a:off x="1051560" y="1965960"/>
            <a:ext cx="1516867" cy="15183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defRPr sz="3600" b="1">
                <a:solidFill>
                  <a:srgbClr val="1E3A8A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NCRI</a:t>
            </a:r>
          </a:p>
          <a:p>
            <a:pPr>
              <a:defRPr sz="1600" b="1">
                <a:solidFill>
                  <a:srgbClr val="2563EB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0–100 Score</a:t>
            </a:r>
          </a:p>
          <a:p>
            <a:pPr>
              <a:spcBef>
                <a:spcPts val="800"/>
              </a:spcBef>
              <a:defRPr sz="1000">
                <a:solidFill>
                  <a:srgbClr val="475569"/>
                </a:solidFill>
                <a:latin typeface="Segoe UI"/>
              </a:defRPr>
            </a:pPr>
            <a:r>
              <a:rPr dirty="0"/>
              <a:t>Sector-level comparative prioritization benchmark calculated deterministically.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D86FD7E-B411-623E-97BB-A9C5B70FD354}"/>
              </a:ext>
            </a:extLst>
          </p:cNvPr>
          <p:cNvSpPr/>
          <p:nvPr/>
        </p:nvSpPr>
        <p:spPr>
          <a:xfrm>
            <a:off x="3200400" y="1691640"/>
            <a:ext cx="1965960" cy="278892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1F3F6D-0775-08DA-5DDA-AFB475105EA6}"/>
              </a:ext>
            </a:extLst>
          </p:cNvPr>
          <p:cNvSpPr txBox="1"/>
          <p:nvPr/>
        </p:nvSpPr>
        <p:spPr>
          <a:xfrm>
            <a:off x="3464433" y="1874520"/>
            <a:ext cx="1403101" cy="1682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defRPr sz="3000" b="1">
                <a:solidFill>
                  <a:srgbClr val="0F172A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0.35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 b="1">
                <a:solidFill>
                  <a:srgbClr val="2563EB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Frequency</a:t>
            </a:r>
          </a:p>
          <a:p>
            <a:pPr>
              <a:spcAft>
                <a:spcPts val="400"/>
              </a:spcAft>
              <a:defRPr sz="1000" b="1">
                <a:solidFill>
                  <a:srgbClr val="475569"/>
                </a:solidFill>
                <a:latin typeface="Segoe UI"/>
              </a:defRPr>
            </a:pPr>
            <a:r>
              <a:rPr dirty="0"/>
              <a:t>Log-scaled sector incident volume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rPr dirty="0"/>
              <a:t>Penalizes frequent attacks using non-linear log scaling to avoid skew from outlier events.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83A2882-A672-AA43-D12A-999BD0D37F9E}"/>
              </a:ext>
            </a:extLst>
          </p:cNvPr>
          <p:cNvSpPr/>
          <p:nvPr/>
        </p:nvSpPr>
        <p:spPr>
          <a:xfrm>
            <a:off x="5349240" y="1691640"/>
            <a:ext cx="1965960" cy="278892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B89CD0-D4EB-74E0-E32E-C3796E1B10DF}"/>
              </a:ext>
            </a:extLst>
          </p:cNvPr>
          <p:cNvSpPr txBox="1"/>
          <p:nvPr/>
        </p:nvSpPr>
        <p:spPr>
          <a:xfrm>
            <a:off x="5613273" y="1874520"/>
            <a:ext cx="1403101" cy="18287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defRPr sz="3000" b="1">
                <a:solidFill>
                  <a:srgbClr val="0F172A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0.30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 b="1">
                <a:solidFill>
                  <a:srgbClr val="2563EB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Severity</a:t>
            </a:r>
          </a:p>
          <a:p>
            <a:pPr>
              <a:spcAft>
                <a:spcPts val="400"/>
              </a:spcAft>
              <a:defRPr sz="1000" b="1">
                <a:solidFill>
                  <a:srgbClr val="475569"/>
                </a:solidFill>
                <a:latin typeface="Segoe UI"/>
              </a:defRPr>
            </a:pPr>
            <a:r>
              <a:rPr dirty="0"/>
              <a:t>Normalized average severity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rPr dirty="0"/>
              <a:t>Calculates normalized impact score reflecting operational disruption and data breach consequences.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6F68E59-9C71-938B-1184-859FAD4B7A70}"/>
              </a:ext>
            </a:extLst>
          </p:cNvPr>
          <p:cNvSpPr/>
          <p:nvPr/>
        </p:nvSpPr>
        <p:spPr>
          <a:xfrm>
            <a:off x="7498079" y="1691640"/>
            <a:ext cx="1965960" cy="278892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E1DB9E-46B6-012D-618D-6FBEBE8C13A5}"/>
              </a:ext>
            </a:extLst>
          </p:cNvPr>
          <p:cNvSpPr txBox="1"/>
          <p:nvPr/>
        </p:nvSpPr>
        <p:spPr>
          <a:xfrm>
            <a:off x="7762113" y="1874520"/>
            <a:ext cx="1403101" cy="1682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defRPr sz="3000" b="1">
                <a:solidFill>
                  <a:srgbClr val="0F172A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0.20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 b="1">
                <a:solidFill>
                  <a:srgbClr val="2563EB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Sector Criticality</a:t>
            </a:r>
          </a:p>
          <a:p>
            <a:pPr>
              <a:spcAft>
                <a:spcPts val="400"/>
              </a:spcAft>
              <a:defRPr sz="1000" b="1">
                <a:solidFill>
                  <a:srgbClr val="475569"/>
                </a:solidFill>
                <a:latin typeface="Segoe UI"/>
              </a:defRPr>
            </a:pPr>
            <a:r>
              <a:rPr dirty="0"/>
              <a:t>Fixed sector criticality assumptions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rPr dirty="0"/>
              <a:t>Encodes baseline national priority (e.g., energy, healthcare, and finance carry higher weights).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C572AFB-6D01-4A9B-AF25-D3440D7F232F}"/>
              </a:ext>
            </a:extLst>
          </p:cNvPr>
          <p:cNvSpPr/>
          <p:nvPr/>
        </p:nvSpPr>
        <p:spPr>
          <a:xfrm>
            <a:off x="9646920" y="1691640"/>
            <a:ext cx="1965960" cy="278892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FD7F9C-B6FF-F154-DB81-12A03FBA1A32}"/>
              </a:ext>
            </a:extLst>
          </p:cNvPr>
          <p:cNvSpPr txBox="1"/>
          <p:nvPr/>
        </p:nvSpPr>
        <p:spPr>
          <a:xfrm>
            <a:off x="9910953" y="1874520"/>
            <a:ext cx="1403101" cy="20287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defRPr sz="3000" b="1">
                <a:solidFill>
                  <a:srgbClr val="0F172A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0.15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 b="1">
                <a:solidFill>
                  <a:srgbClr val="2563EB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Exploitation Velocity</a:t>
            </a:r>
          </a:p>
          <a:p>
            <a:pPr>
              <a:spcAft>
                <a:spcPts val="400"/>
              </a:spcAft>
              <a:defRPr sz="1000" b="1">
                <a:solidFill>
                  <a:srgbClr val="475569"/>
                </a:solidFill>
                <a:latin typeface="Segoe UI"/>
              </a:defRPr>
            </a:pPr>
            <a:r>
              <a:rPr dirty="0"/>
              <a:t>Share of high-impact attack categories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rPr dirty="0"/>
              <a:t>Measures the proportion of weaponized, fast-spreading zero-day or ransomware attack classes.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ED6E658-FF14-66C5-DB06-490F6CA019C2}"/>
              </a:ext>
            </a:extLst>
          </p:cNvPr>
          <p:cNvSpPr/>
          <p:nvPr/>
        </p:nvSpPr>
        <p:spPr>
          <a:xfrm>
            <a:off x="731520" y="4709160"/>
            <a:ext cx="10728655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E85537-A4BE-0E8E-132F-45551F2EFC5E}"/>
              </a:ext>
            </a:extLst>
          </p:cNvPr>
          <p:cNvSpPr txBox="1"/>
          <p:nvPr/>
        </p:nvSpPr>
        <p:spPr>
          <a:xfrm>
            <a:off x="960120" y="4818888"/>
            <a:ext cx="4572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0284C7"/>
                </a:solidFill>
                <a:latin typeface="Segoe UI"/>
              </a:defRPr>
            </a:pPr>
            <a:r>
              <a:t>STANDARDIZED RISK TIERS (0–100 SCALE)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2AAECE2-9E7A-F4EF-0244-0FBA9A6DBEA8}"/>
              </a:ext>
            </a:extLst>
          </p:cNvPr>
          <p:cNvSpPr/>
          <p:nvPr/>
        </p:nvSpPr>
        <p:spPr>
          <a:xfrm>
            <a:off x="960120" y="5093208"/>
            <a:ext cx="1907987" cy="804672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0CD5346-86BB-211F-4B34-E5907D065E98}"/>
              </a:ext>
            </a:extLst>
          </p:cNvPr>
          <p:cNvSpPr txBox="1"/>
          <p:nvPr/>
        </p:nvSpPr>
        <p:spPr>
          <a:xfrm>
            <a:off x="1051560" y="5166360"/>
            <a:ext cx="1725107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66534"/>
                </a:solidFill>
                <a:latin typeface="Segoe UI"/>
              </a:defRPr>
            </a:pPr>
            <a:r>
              <a:t>&lt; 25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Low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Baseline risk level; routine defense.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B8BF614-B30C-E62E-0350-F53CF958AA51}"/>
              </a:ext>
            </a:extLst>
          </p:cNvPr>
          <p:cNvSpPr/>
          <p:nvPr/>
        </p:nvSpPr>
        <p:spPr>
          <a:xfrm>
            <a:off x="3050987" y="5093208"/>
            <a:ext cx="1907987" cy="80467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D63146-DDFC-0A31-921F-B8E4668DEB38}"/>
              </a:ext>
            </a:extLst>
          </p:cNvPr>
          <p:cNvSpPr txBox="1"/>
          <p:nvPr/>
        </p:nvSpPr>
        <p:spPr>
          <a:xfrm>
            <a:off x="3142427" y="5166360"/>
            <a:ext cx="1725107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E40AF"/>
                </a:solidFill>
                <a:latin typeface="Segoe UI"/>
              </a:defRPr>
            </a:pPr>
            <a:r>
              <a:t>25 – 49.9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Moderate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Standard monitoring; elevated frequency.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9691FD4D-D082-5F04-31DF-D13D413EB065}"/>
              </a:ext>
            </a:extLst>
          </p:cNvPr>
          <p:cNvSpPr/>
          <p:nvPr/>
        </p:nvSpPr>
        <p:spPr>
          <a:xfrm>
            <a:off x="5141854" y="5093208"/>
            <a:ext cx="1907987" cy="80467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34FBBF1-CE64-C75A-8641-5DCE840E5061}"/>
              </a:ext>
            </a:extLst>
          </p:cNvPr>
          <p:cNvSpPr txBox="1"/>
          <p:nvPr/>
        </p:nvSpPr>
        <p:spPr>
          <a:xfrm>
            <a:off x="5233294" y="5166360"/>
            <a:ext cx="1725107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B45309"/>
                </a:solidFill>
                <a:latin typeface="Segoe UI"/>
              </a:defRPr>
            </a:pPr>
            <a:r>
              <a:t>50 – 69.9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Elevated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Enhanced scrutiny; critical alert.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F36C2E1B-CB0B-0156-D21E-9847E8293C7F}"/>
              </a:ext>
            </a:extLst>
          </p:cNvPr>
          <p:cNvSpPr/>
          <p:nvPr/>
        </p:nvSpPr>
        <p:spPr>
          <a:xfrm>
            <a:off x="7232721" y="5093208"/>
            <a:ext cx="1907987" cy="804672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DBF775F-EF36-F503-365A-A05088415FD2}"/>
              </a:ext>
            </a:extLst>
          </p:cNvPr>
          <p:cNvSpPr txBox="1"/>
          <p:nvPr/>
        </p:nvSpPr>
        <p:spPr>
          <a:xfrm>
            <a:off x="7324161" y="5166360"/>
            <a:ext cx="1725107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C2410C"/>
                </a:solidFill>
                <a:latin typeface="Segoe UI"/>
              </a:defRPr>
            </a:pPr>
            <a:r>
              <a:t>70 – 84.9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High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High operational disruption; active response.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677F3C5B-7D61-57A3-B45C-26EBDE23385A}"/>
              </a:ext>
            </a:extLst>
          </p:cNvPr>
          <p:cNvSpPr/>
          <p:nvPr/>
        </p:nvSpPr>
        <p:spPr>
          <a:xfrm>
            <a:off x="9323588" y="5093208"/>
            <a:ext cx="1907987" cy="804672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B309206-3E6B-8175-AA96-D95BF7BA957B}"/>
              </a:ext>
            </a:extLst>
          </p:cNvPr>
          <p:cNvSpPr txBox="1"/>
          <p:nvPr/>
        </p:nvSpPr>
        <p:spPr>
          <a:xfrm>
            <a:off x="9415028" y="5166360"/>
            <a:ext cx="1725107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B91C1C"/>
                </a:solidFill>
                <a:latin typeface="Segoe UI"/>
              </a:defRPr>
            </a:pPr>
            <a:r>
              <a:t>85 – 100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Severe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Catastrophic impact or mass velocity.</a:t>
            </a:r>
          </a:p>
        </p:txBody>
      </p:sp>
    </p:spTree>
    <p:extLst>
      <p:ext uri="{BB962C8B-B14F-4D97-AF65-F5344CB8AC3E}">
        <p14:creationId xmlns:p14="http://schemas.microsoft.com/office/powerpoint/2010/main" val="38901676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D94B3-A227-C780-F569-171939713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A56717-4D0E-B78D-2B44-6F5D6662EDF8}"/>
              </a:ext>
            </a:extLst>
          </p:cNvPr>
          <p:cNvSpPr txBox="1"/>
          <p:nvPr/>
        </p:nvSpPr>
        <p:spPr>
          <a:xfrm>
            <a:off x="731520" y="758952"/>
            <a:ext cx="10728655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Data Quality, Limitations, and Responsible Interpretation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99348D-94F1-38DF-5C40-558334A21AA2}"/>
              </a:ext>
            </a:extLst>
          </p:cNvPr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Maintaining analytical integrity requires explicit recognition of data biases and boundary conditions.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C02EC84-545B-E8B2-089C-E010E544735B}"/>
              </a:ext>
            </a:extLst>
          </p:cNvPr>
          <p:cNvSpPr/>
          <p:nvPr/>
        </p:nvSpPr>
        <p:spPr>
          <a:xfrm>
            <a:off x="731520" y="1691640"/>
            <a:ext cx="5212080" cy="2057400"/>
          </a:xfrm>
          <a:prstGeom prst="roundRect">
            <a:avLst>
              <a:gd name="adj" fmla="val 12153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02FCF2-6509-95C0-AE99-C884A1841B59}"/>
              </a:ext>
            </a:extLst>
          </p:cNvPr>
          <p:cNvSpPr txBox="1"/>
          <p:nvPr/>
        </p:nvSpPr>
        <p:spPr>
          <a:xfrm>
            <a:off x="960120" y="1946910"/>
            <a:ext cx="47548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Reporting Asymmetry &amp; Incompleteness</a:t>
            </a:r>
          </a:p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  <a:latin typeface="Segoe UI"/>
              </a:defRPr>
            </a:pPr>
            <a:r>
              <a:rPr dirty="0"/>
              <a:t>Publicly reported incidents are incomplete and may be uneven across countries and sectors.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rPr dirty="0"/>
              <a:t>Mandatory breach reporting varies significantly across jurisdictions. Public disclosures capture only a fraction of overall activity, meaning volume metrics reflect reporting habits alongside true threat posture.</a:t>
            </a:r>
          </a:p>
        </p:txBody>
      </p:sp>
    </p:spTree>
    <p:extLst>
      <p:ext uri="{BB962C8B-B14F-4D97-AF65-F5344CB8AC3E}">
        <p14:creationId xmlns:p14="http://schemas.microsoft.com/office/powerpoint/2010/main" val="4425304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758952"/>
            <a:ext cx="10728655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Data Quality, Limitations, and Responsible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Maintaining analytical integrity requires explicit recognition of data biases and boundary conditions.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212080" cy="2057400"/>
          </a:xfrm>
          <a:prstGeom prst="roundRect">
            <a:avLst>
              <a:gd name="adj" fmla="val 12153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946910"/>
            <a:ext cx="47548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Reporting Asymmetry &amp; Incompleteness</a:t>
            </a:r>
          </a:p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  <a:latin typeface="Segoe UI"/>
              </a:defRPr>
            </a:pPr>
            <a:r>
              <a:rPr dirty="0"/>
              <a:t>Publicly reported incidents are incomplete and may be uneven across countries and sectors.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rPr dirty="0"/>
              <a:t>Mandatory breach reporting varies significantly across jurisdictions. Public disclosures capture only a fraction of overall activity, meaning volume metrics reflect reporting habits alongside true threat posture.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5212080" cy="2057400"/>
          </a:xfrm>
          <a:prstGeom prst="roundRect">
            <a:avLst>
              <a:gd name="adj" fmla="val 1122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4278630"/>
            <a:ext cx="47548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Preserving Nulls vs. Data Fabrication</a:t>
            </a:r>
          </a:p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  <a:latin typeface="Segoe UI"/>
              </a:defRPr>
            </a:pPr>
            <a:r>
              <a:t>Financial loss may often be missing; unknown values should remain null rather than be fabricated.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Loss numbers are rarely disclosed in early reports. Imputing financial values or assuming averages creates deceptive precision; preserving missing fields guarantees analytical auditability.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326E5-9E8A-FD1E-9729-0EB5A0800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AF10EF-809A-2F17-3996-B273083404DA}"/>
              </a:ext>
            </a:extLst>
          </p:cNvPr>
          <p:cNvSpPr txBox="1"/>
          <p:nvPr/>
        </p:nvSpPr>
        <p:spPr>
          <a:xfrm>
            <a:off x="731520" y="758952"/>
            <a:ext cx="10728655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Data Quality, Limitations, and Responsible Interpretation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197DE4-3F96-F765-B10C-644F40C59A4B}"/>
              </a:ext>
            </a:extLst>
          </p:cNvPr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Maintaining analytical integrity requires explicit recognition of data biases and boundary conditions.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C9DF099-FC02-42B3-63F5-8AF2593EFC32}"/>
              </a:ext>
            </a:extLst>
          </p:cNvPr>
          <p:cNvSpPr/>
          <p:nvPr/>
        </p:nvSpPr>
        <p:spPr>
          <a:xfrm>
            <a:off x="731520" y="1691640"/>
            <a:ext cx="5212080" cy="2057400"/>
          </a:xfrm>
          <a:prstGeom prst="roundRect">
            <a:avLst>
              <a:gd name="adj" fmla="val 12153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2FCF68-0E32-3D89-FED1-08F03B2DCCD5}"/>
              </a:ext>
            </a:extLst>
          </p:cNvPr>
          <p:cNvSpPr txBox="1"/>
          <p:nvPr/>
        </p:nvSpPr>
        <p:spPr>
          <a:xfrm>
            <a:off x="960120" y="1946910"/>
            <a:ext cx="47548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Reporting Asymmetry &amp; Incompleteness</a:t>
            </a:r>
          </a:p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  <a:latin typeface="Segoe UI"/>
              </a:defRPr>
            </a:pPr>
            <a:r>
              <a:rPr dirty="0"/>
              <a:t>Publicly reported incidents are incomplete and may be uneven across countries and sectors.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rPr dirty="0"/>
              <a:t>Mandatory breach reporting varies significantly across jurisdictions. Public disclosures capture only a fraction of overall activity, meaning volume metrics reflect reporting habits alongside true threat posture.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D8B507A-7500-CCEB-BEF2-0485170A584D}"/>
              </a:ext>
            </a:extLst>
          </p:cNvPr>
          <p:cNvSpPr/>
          <p:nvPr/>
        </p:nvSpPr>
        <p:spPr>
          <a:xfrm>
            <a:off x="6248095" y="1691640"/>
            <a:ext cx="5212080" cy="2057400"/>
          </a:xfrm>
          <a:prstGeom prst="roundRect">
            <a:avLst>
              <a:gd name="adj" fmla="val 11690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02BC7E-3B6F-C772-C9DC-8A5BB9492CFF}"/>
              </a:ext>
            </a:extLst>
          </p:cNvPr>
          <p:cNvSpPr txBox="1"/>
          <p:nvPr/>
        </p:nvSpPr>
        <p:spPr>
          <a:xfrm>
            <a:off x="6476695" y="1946910"/>
            <a:ext cx="47548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Extortion Claims vs. Verified Breaches</a:t>
            </a:r>
          </a:p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  <a:latin typeface="Segoe UI"/>
              </a:defRPr>
            </a:pPr>
            <a:r>
              <a:t>Ransomware.live data can represent threat-group extortion claims rather than independently audited confirmations.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Adversary leak sites often publish victim names as negotiation tactics. Entries must be treated as unverified claims until cross-referenced with confirmatory technical disclosures.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0F32757-D002-7D5A-4783-1A08348EEE31}"/>
              </a:ext>
            </a:extLst>
          </p:cNvPr>
          <p:cNvSpPr/>
          <p:nvPr/>
        </p:nvSpPr>
        <p:spPr>
          <a:xfrm>
            <a:off x="731520" y="4023360"/>
            <a:ext cx="5212080" cy="2057400"/>
          </a:xfrm>
          <a:prstGeom prst="roundRect">
            <a:avLst>
              <a:gd name="adj" fmla="val 1122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8514EB-7285-CD1F-E966-7770A765BFAF}"/>
              </a:ext>
            </a:extLst>
          </p:cNvPr>
          <p:cNvSpPr txBox="1"/>
          <p:nvPr/>
        </p:nvSpPr>
        <p:spPr>
          <a:xfrm>
            <a:off x="960120" y="4278630"/>
            <a:ext cx="47548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Preserving Nulls vs. Data Fabrication</a:t>
            </a:r>
          </a:p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  <a:latin typeface="Segoe UI"/>
              </a:defRPr>
            </a:pPr>
            <a:r>
              <a:t>Financial loss may often be missing; unknown values should remain null rather than be fabricated.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Loss numbers are rarely disclosed in early reports. Imputing financial values or assuming averages creates deceptive precision; preserving missing fields guarantees analytical auditability.</a:t>
            </a:r>
          </a:p>
        </p:txBody>
      </p:sp>
    </p:spTree>
    <p:extLst>
      <p:ext uri="{BB962C8B-B14F-4D97-AF65-F5344CB8AC3E}">
        <p14:creationId xmlns:p14="http://schemas.microsoft.com/office/powerpoint/2010/main" val="27291800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85755-9996-EFE8-B8FA-52ABC0BA0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A488C1-B344-120F-FF2C-32DA04D5C4E9}"/>
              </a:ext>
            </a:extLst>
          </p:cNvPr>
          <p:cNvSpPr txBox="1"/>
          <p:nvPr/>
        </p:nvSpPr>
        <p:spPr>
          <a:xfrm>
            <a:off x="731520" y="758952"/>
            <a:ext cx="10728655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Data Quality, Limitations, and Responsible Interpretation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AB8921-A3CB-C687-63FB-CB9442715F86}"/>
              </a:ext>
            </a:extLst>
          </p:cNvPr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Maintaining analytical integrity requires explicit recognition of data biases and boundary conditions.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F1CACCF-5731-6B49-7B72-CB7FCA2B527D}"/>
              </a:ext>
            </a:extLst>
          </p:cNvPr>
          <p:cNvSpPr/>
          <p:nvPr/>
        </p:nvSpPr>
        <p:spPr>
          <a:xfrm>
            <a:off x="731520" y="1691640"/>
            <a:ext cx="5212080" cy="2057400"/>
          </a:xfrm>
          <a:prstGeom prst="roundRect">
            <a:avLst>
              <a:gd name="adj" fmla="val 12153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60C26C-A127-6F40-7908-A89783CB3A75}"/>
              </a:ext>
            </a:extLst>
          </p:cNvPr>
          <p:cNvSpPr txBox="1"/>
          <p:nvPr/>
        </p:nvSpPr>
        <p:spPr>
          <a:xfrm>
            <a:off x="960120" y="1946910"/>
            <a:ext cx="47548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Reporting Asymmetry &amp; Incompleteness</a:t>
            </a:r>
          </a:p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  <a:latin typeface="Segoe UI"/>
              </a:defRPr>
            </a:pPr>
            <a:r>
              <a:rPr dirty="0"/>
              <a:t>Publicly reported incidents are incomplete and may be uneven across countries and sectors.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rPr dirty="0"/>
              <a:t>Mandatory breach reporting varies significantly across jurisdictions. Public disclosures capture only a fraction of overall activity, meaning volume metrics reflect reporting habits alongside true threat posture.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96A6177-B5C7-EDE7-6F96-3FA64FB5CB96}"/>
              </a:ext>
            </a:extLst>
          </p:cNvPr>
          <p:cNvSpPr/>
          <p:nvPr/>
        </p:nvSpPr>
        <p:spPr>
          <a:xfrm>
            <a:off x="6248095" y="1691640"/>
            <a:ext cx="5212080" cy="2057400"/>
          </a:xfrm>
          <a:prstGeom prst="roundRect">
            <a:avLst>
              <a:gd name="adj" fmla="val 11690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9498EF-F93E-D398-210D-E061438013CB}"/>
              </a:ext>
            </a:extLst>
          </p:cNvPr>
          <p:cNvSpPr txBox="1"/>
          <p:nvPr/>
        </p:nvSpPr>
        <p:spPr>
          <a:xfrm>
            <a:off x="6476695" y="1946910"/>
            <a:ext cx="47548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Extortion Claims vs. Verified Breaches</a:t>
            </a:r>
          </a:p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  <a:latin typeface="Segoe UI"/>
              </a:defRPr>
            </a:pPr>
            <a:r>
              <a:t>Ransomware.live data can represent threat-group extortion claims rather than independently audited confirmations.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Adversary leak sites often publish victim names as negotiation tactics. Entries must be treated as unverified claims until cross-referenced with confirmatory technical disclosures.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D40AD1E-E55A-41C6-0232-483250DBE81E}"/>
              </a:ext>
            </a:extLst>
          </p:cNvPr>
          <p:cNvSpPr/>
          <p:nvPr/>
        </p:nvSpPr>
        <p:spPr>
          <a:xfrm>
            <a:off x="731520" y="4023360"/>
            <a:ext cx="5212080" cy="2057400"/>
          </a:xfrm>
          <a:prstGeom prst="roundRect">
            <a:avLst>
              <a:gd name="adj" fmla="val 1122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41BC90-19BA-2264-4CD2-B5A0BF417E39}"/>
              </a:ext>
            </a:extLst>
          </p:cNvPr>
          <p:cNvSpPr txBox="1"/>
          <p:nvPr/>
        </p:nvSpPr>
        <p:spPr>
          <a:xfrm>
            <a:off x="960120" y="4278630"/>
            <a:ext cx="47548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Preserving Nulls vs. Data Fabrication</a:t>
            </a:r>
          </a:p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  <a:latin typeface="Segoe UI"/>
              </a:defRPr>
            </a:pPr>
            <a:r>
              <a:t>Financial loss may often be missing; unknown values should remain null rather than be fabricated.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Loss numbers are rarely disclosed in early reports. Imputing financial values or assuming averages creates deceptive precision; preserving missing fields guarantees analytical auditability.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FA8FEA7-83F0-F725-0ADF-B50B31705987}"/>
              </a:ext>
            </a:extLst>
          </p:cNvPr>
          <p:cNvSpPr/>
          <p:nvPr/>
        </p:nvSpPr>
        <p:spPr>
          <a:xfrm>
            <a:off x="6248095" y="4023360"/>
            <a:ext cx="5212080" cy="2057400"/>
          </a:xfrm>
          <a:prstGeom prst="roundRect">
            <a:avLst>
              <a:gd name="adj" fmla="val 11111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1C174C-2D8B-CC1A-5CCF-884422748AF1}"/>
              </a:ext>
            </a:extLst>
          </p:cNvPr>
          <p:cNvSpPr txBox="1"/>
          <p:nvPr/>
        </p:nvSpPr>
        <p:spPr>
          <a:xfrm>
            <a:off x="6476695" y="4278630"/>
            <a:ext cx="47548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Comparative Index vs. Predictive Certainty</a:t>
            </a:r>
          </a:p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  <a:latin typeface="Segoe UI"/>
              </a:defRPr>
            </a:pPr>
            <a:r>
              <a:t>A high NCRI score is a comparative indicator under the defined methodology, not a probability of future attack.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The NCRI quantifies observed historical activity, baseline criticality, and exploitation traits for relative resource prioritization. It does not predict imminent breaches for individual entities.</a:t>
            </a:r>
          </a:p>
        </p:txBody>
      </p:sp>
    </p:spTree>
    <p:extLst>
      <p:ext uri="{BB962C8B-B14F-4D97-AF65-F5344CB8AC3E}">
        <p14:creationId xmlns:p14="http://schemas.microsoft.com/office/powerpoint/2010/main" val="19460644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758952"/>
            <a:ext cx="10728655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Outputs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An auditable, extensible analytics workflow that enables investigation and comparison.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212080" cy="4389120"/>
          </a:xfrm>
          <a:prstGeom prst="roundRect">
            <a:avLst>
              <a:gd name="adj" fmla="val 7842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2011680"/>
            <a:ext cx="4572000" cy="31931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rPr dirty="0"/>
              <a:t>CURRENT DELIVERABLES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2200" b="1">
                <a:solidFill>
                  <a:srgbClr val="1E3A8A"/>
                </a:solidFill>
                <a:latin typeface="Segoe UI"/>
              </a:defRPr>
            </a:pPr>
            <a:r>
              <a:rPr dirty="0"/>
              <a:t>WHAT YOU GET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Interactive Analytics Dashboard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rPr dirty="0"/>
              <a:t>Full incident-level filtering by timeframe, geographic region, victim sector, and severity metrics.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National Risk Index (NCRI)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rPr dirty="0"/>
              <a:t>Automated 0–100 composite scoring engine for comparative sector risk evaluation and prioritization.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Source Registry &amp; Ingestion Audit Logs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rPr dirty="0"/>
              <a:t>Complete operational tracking capturing processed, added, skipped, and updated records per ingestion run.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Exportable Standardized Datasets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rPr dirty="0"/>
              <a:t>Downloadable clean incident data in structured formats for academic research and secondary analysis.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18D25-7BA7-06D6-5AFF-1C6B4982C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29CC05-586D-DB4B-9099-828A3D1A5055}"/>
              </a:ext>
            </a:extLst>
          </p:cNvPr>
          <p:cNvSpPr txBox="1"/>
          <p:nvPr/>
        </p:nvSpPr>
        <p:spPr>
          <a:xfrm>
            <a:off x="731520" y="758952"/>
            <a:ext cx="10728655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rPr dirty="0">
                <a:solidFill>
                  <a:srgbClr val="0284C7"/>
                </a:solidFill>
              </a:rPr>
              <a:t>Outputs and Next Steps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9617A5-E8C1-364F-3918-33417C76BEE7}"/>
              </a:ext>
            </a:extLst>
          </p:cNvPr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An auditable, extensible analytics workflow that enables investigation and comparison.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D5DD368-1795-AC54-3296-48B250D49082}"/>
              </a:ext>
            </a:extLst>
          </p:cNvPr>
          <p:cNvSpPr/>
          <p:nvPr/>
        </p:nvSpPr>
        <p:spPr>
          <a:xfrm>
            <a:off x="731520" y="1691640"/>
            <a:ext cx="5212080" cy="4389120"/>
          </a:xfrm>
          <a:prstGeom prst="roundRect">
            <a:avLst>
              <a:gd name="adj" fmla="val 7842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A08FCD-C185-3651-BC8B-6C5ADE15421E}"/>
              </a:ext>
            </a:extLst>
          </p:cNvPr>
          <p:cNvSpPr txBox="1"/>
          <p:nvPr/>
        </p:nvSpPr>
        <p:spPr>
          <a:xfrm>
            <a:off x="1051560" y="2011680"/>
            <a:ext cx="4572000" cy="31931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rPr dirty="0"/>
              <a:t>CURRENT DELIVERABLES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2200" b="1">
                <a:solidFill>
                  <a:srgbClr val="1E3A8A"/>
                </a:solidFill>
                <a:latin typeface="Segoe UI"/>
              </a:defRPr>
            </a:pPr>
            <a:r>
              <a:rPr dirty="0"/>
              <a:t>WHAT YOU GET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Interactive Analytics Dashboard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rPr dirty="0"/>
              <a:t>Full incident-level filtering by timeframe, geographic region, victim sector, and severity metrics.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National Risk Index (NCRI)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rPr dirty="0"/>
              <a:t>Automated 0–100 composite scoring engine for comparative sector risk evaluation and prioritization.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Source Registry &amp; Ingestion Audit Logs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rPr dirty="0"/>
              <a:t>Complete operational tracking capturing processed, added, skipped, and updated records per ingestion run.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Exportable Standardized Datasets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rPr dirty="0"/>
              <a:t>Downloadable clean incident data in structured formats for academic research and secondary analysis.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9860A2A-3E19-814F-00AF-D595693F3E9C}"/>
              </a:ext>
            </a:extLst>
          </p:cNvPr>
          <p:cNvSpPr/>
          <p:nvPr/>
        </p:nvSpPr>
        <p:spPr>
          <a:xfrm>
            <a:off x="6248095" y="1691640"/>
            <a:ext cx="5212080" cy="4389120"/>
          </a:xfrm>
          <a:prstGeom prst="roundRect">
            <a:avLst>
              <a:gd name="adj" fmla="val 769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967937-DB2A-2563-C83F-5612DEC70E34}"/>
              </a:ext>
            </a:extLst>
          </p:cNvPr>
          <p:cNvSpPr txBox="1"/>
          <p:nvPr/>
        </p:nvSpPr>
        <p:spPr>
          <a:xfrm>
            <a:off x="6568135" y="2011680"/>
            <a:ext cx="4572000" cy="31931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rPr dirty="0"/>
              <a:t>FUTURE ENHANCEMENTS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22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WHAT'S NEXT</a:t>
            </a:r>
          </a:p>
          <a:p>
            <a:pPr>
              <a:spcBef>
                <a:spcPts val="800"/>
              </a:spcBef>
              <a:defRPr sz="1300" b="1">
                <a:solidFill>
                  <a:srgbClr val="2563EB"/>
                </a:solidFill>
                <a:latin typeface="Segoe UI"/>
              </a:defRPr>
            </a:pPr>
            <a:r>
              <a:rPr dirty="0"/>
              <a:t>Source Freshness Monitoring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rPr dirty="0"/>
              <a:t>Automated heartbeat alerts and health monitors detecting stale external feeds or unexpected API outages.</a:t>
            </a:r>
          </a:p>
          <a:p>
            <a:pPr>
              <a:spcBef>
                <a:spcPts val="800"/>
              </a:spcBef>
              <a:defRPr sz="1300" b="1">
                <a:solidFill>
                  <a:srgbClr val="2563EB"/>
                </a:solidFill>
                <a:latin typeface="Segoe UI"/>
              </a:defRPr>
            </a:pPr>
            <a:r>
              <a:rPr dirty="0"/>
              <a:t>Validation of Incident-CVE Links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rPr dirty="0"/>
              <a:t>Advanced corroboration pipelines cross-referencing vendor advisories and CVSS metrics for high-confidence linkage.</a:t>
            </a:r>
          </a:p>
          <a:p>
            <a:pPr>
              <a:spcBef>
                <a:spcPts val="800"/>
              </a:spcBef>
              <a:defRPr sz="1300" b="1">
                <a:solidFill>
                  <a:srgbClr val="2563EB"/>
                </a:solidFill>
                <a:latin typeface="Segoe UI"/>
              </a:defRPr>
            </a:pPr>
            <a:r>
              <a:rPr dirty="0"/>
              <a:t>Improved Coverage Assessment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rPr dirty="0"/>
              <a:t>Quantitative statistical modeling to evaluate under-reporting ratios across distinct geographic regions.</a:t>
            </a:r>
          </a:p>
          <a:p>
            <a:pPr>
              <a:spcBef>
                <a:spcPts val="800"/>
              </a:spcBef>
              <a:defRPr sz="1300" b="1">
                <a:solidFill>
                  <a:srgbClr val="2563EB"/>
                </a:solidFill>
                <a:latin typeface="Segoe UI"/>
              </a:defRPr>
            </a:pPr>
            <a:r>
              <a:rPr dirty="0"/>
              <a:t>Formal Evaluation of Forecast Accuracy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rPr dirty="0"/>
              <a:t>Empirical </a:t>
            </a:r>
            <a:r>
              <a:rPr dirty="0" err="1"/>
              <a:t>backtesting</a:t>
            </a:r>
            <a:r>
              <a:rPr dirty="0"/>
              <a:t> and error-rate evaluation for predictive threat trajectory models.</a:t>
            </a:r>
          </a:p>
        </p:txBody>
      </p:sp>
    </p:spTree>
    <p:extLst>
      <p:ext uri="{BB962C8B-B14F-4D97-AF65-F5344CB8AC3E}">
        <p14:creationId xmlns:p14="http://schemas.microsoft.com/office/powerpoint/2010/main" val="9920066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4AC5FE-1DD3-E97B-CE02-491BE858103A}"/>
              </a:ext>
            </a:extLst>
          </p:cNvPr>
          <p:cNvSpPr txBox="1"/>
          <p:nvPr/>
        </p:nvSpPr>
        <p:spPr>
          <a:xfrm>
            <a:off x="2971647" y="2921168"/>
            <a:ext cx="6248706" cy="10156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600" b="1">
                <a:solidFill>
                  <a:srgbClr val="0F172A"/>
                </a:solidFill>
                <a:latin typeface="Segoe UI"/>
              </a:defRPr>
            </a:pPr>
            <a:r>
              <a:rPr lang="en-US" sz="6600" dirty="0">
                <a:solidFill>
                  <a:srgbClr val="0284C7"/>
                </a:solidFill>
              </a:rPr>
              <a:t>THANK YOU</a:t>
            </a:r>
            <a:endParaRPr sz="6600" dirty="0">
              <a:solidFill>
                <a:srgbClr val="0284C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97600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4549</Words>
  <Application>Microsoft Office PowerPoint</Application>
  <PresentationFormat>Widescreen</PresentationFormat>
  <Paragraphs>586</Paragraphs>
  <Slides>40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Tej Prakash Carpenter</dc:creator>
  <cp:keywords/>
  <dc:description>generated using python-pptx</dc:description>
  <cp:lastModifiedBy>Tej Prakash Carpenter</cp:lastModifiedBy>
  <cp:revision>24</cp:revision>
  <dcterms:created xsi:type="dcterms:W3CDTF">2013-01-27T09:14:16Z</dcterms:created>
  <dcterms:modified xsi:type="dcterms:W3CDTF">2026-10-16T07:58:30Z</dcterms:modified>
  <cp:category/>
</cp:coreProperties>
</file>